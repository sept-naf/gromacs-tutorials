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56" r:id="rId3"/>
    <p:sldId id="265" r:id="rId4"/>
    <p:sldId id="260" r:id="rId5"/>
    <p:sldId id="264" r:id="rId6"/>
    <p:sldId id="266" r:id="rId7"/>
    <p:sldId id="263"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89" d="100"/>
          <a:sy n="89" d="100"/>
        </p:scale>
        <p:origin x="41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2022/4/23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051827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2022/4/23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598653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2022/4/23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12184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2022/4/23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05825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2022/4/23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8117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2022/4/23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4406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2022/4/23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523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2022/4/23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694758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2022/4/23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77805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2022/4/23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188717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2022/4/23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025501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2022/4/23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003094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A42EA8F-40C2-47BF-9B03-3F5CEA08B6BF}"/>
              </a:ext>
            </a:extLst>
          </p:cNvPr>
          <p:cNvSpPr txBox="1"/>
          <p:nvPr/>
        </p:nvSpPr>
        <p:spPr>
          <a:xfrm>
            <a:off x="0" y="0"/>
            <a:ext cx="3873260" cy="369332"/>
          </a:xfrm>
          <a:prstGeom prst="rect">
            <a:avLst/>
          </a:prstGeom>
          <a:noFill/>
        </p:spPr>
        <p:txBody>
          <a:bodyPr wrap="square" rtlCol="0">
            <a:spAutoFit/>
          </a:bodyPr>
          <a:lstStyle/>
          <a:p>
            <a:r>
              <a:rPr lang="en-US" altLang="zh-CN" u="sng" dirty="0"/>
              <a:t>Install plumed</a:t>
            </a:r>
            <a:endParaRPr lang="zh-CN" altLang="en-US" u="sng" dirty="0"/>
          </a:p>
        </p:txBody>
      </p:sp>
      <p:sp>
        <p:nvSpPr>
          <p:cNvPr id="6" name="文本框 5">
            <a:extLst>
              <a:ext uri="{FF2B5EF4-FFF2-40B4-BE49-F238E27FC236}">
                <a16:creationId xmlns:a16="http://schemas.microsoft.com/office/drawing/2014/main" id="{3C4A4E2F-509A-45F9-97ED-F6BD449DD925}"/>
              </a:ext>
            </a:extLst>
          </p:cNvPr>
          <p:cNvSpPr txBox="1"/>
          <p:nvPr/>
        </p:nvSpPr>
        <p:spPr>
          <a:xfrm>
            <a:off x="482903" y="385630"/>
            <a:ext cx="7869836" cy="369332"/>
          </a:xfrm>
          <a:prstGeom prst="rect">
            <a:avLst/>
          </a:prstGeom>
          <a:noFill/>
        </p:spPr>
        <p:txBody>
          <a:bodyPr wrap="square">
            <a:spAutoFit/>
          </a:bodyPr>
          <a:lstStyle/>
          <a:p>
            <a:r>
              <a:rPr lang="en-US" altLang="zh-CN" dirty="0"/>
              <a:t>https://www.plumed.org/doc-v2.8/user-doc/html/_installation.html</a:t>
            </a:r>
            <a:endParaRPr lang="zh-CN" altLang="en-US" dirty="0"/>
          </a:p>
        </p:txBody>
      </p:sp>
      <p:sp>
        <p:nvSpPr>
          <p:cNvPr id="8" name="文本框 7">
            <a:extLst>
              <a:ext uri="{FF2B5EF4-FFF2-40B4-BE49-F238E27FC236}">
                <a16:creationId xmlns:a16="http://schemas.microsoft.com/office/drawing/2014/main" id="{C8682FE8-6E1A-4DF0-B42E-1446850E7C24}"/>
              </a:ext>
            </a:extLst>
          </p:cNvPr>
          <p:cNvSpPr txBox="1"/>
          <p:nvPr/>
        </p:nvSpPr>
        <p:spPr>
          <a:xfrm>
            <a:off x="482903" y="769075"/>
            <a:ext cx="10464018" cy="1200329"/>
          </a:xfrm>
          <a:prstGeom prst="rect">
            <a:avLst/>
          </a:prstGeom>
          <a:noFill/>
        </p:spPr>
        <p:txBody>
          <a:bodyPr wrap="square">
            <a:spAutoFit/>
          </a:bodyPr>
          <a:lstStyle/>
          <a:p>
            <a:r>
              <a:rPr lang="en-US" altLang="zh-CN" dirty="0"/>
              <a:t>&gt; ./configure --prefix=</a:t>
            </a:r>
            <a:r>
              <a:rPr lang="en-US" altLang="zh-CN" dirty="0" err="1">
                <a:solidFill>
                  <a:srgbClr val="FF0000"/>
                </a:solidFill>
              </a:rPr>
              <a:t>change_to_install_dir</a:t>
            </a:r>
            <a:endParaRPr lang="en-US" altLang="zh-CN" dirty="0">
              <a:solidFill>
                <a:srgbClr val="FF0000"/>
              </a:solidFill>
            </a:endParaRPr>
          </a:p>
          <a:p>
            <a:r>
              <a:rPr lang="en-US" altLang="zh-CN" dirty="0"/>
              <a:t>&gt; make -j 4</a:t>
            </a:r>
          </a:p>
          <a:p>
            <a:r>
              <a:rPr lang="en-US" altLang="zh-CN" dirty="0"/>
              <a:t>&gt; make doc # this is optional and requires proper </a:t>
            </a:r>
            <a:r>
              <a:rPr lang="en-US" altLang="zh-CN" dirty="0" err="1"/>
              <a:t>doxygen</a:t>
            </a:r>
            <a:r>
              <a:rPr lang="en-US" altLang="zh-CN" dirty="0"/>
              <a:t> version installed</a:t>
            </a:r>
          </a:p>
          <a:p>
            <a:r>
              <a:rPr lang="en-US" altLang="zh-CN" dirty="0"/>
              <a:t>&gt; make install</a:t>
            </a:r>
            <a:endParaRPr lang="zh-CN" altLang="en-US" dirty="0"/>
          </a:p>
        </p:txBody>
      </p:sp>
      <p:sp>
        <p:nvSpPr>
          <p:cNvPr id="9" name="文本框 8">
            <a:extLst>
              <a:ext uri="{FF2B5EF4-FFF2-40B4-BE49-F238E27FC236}">
                <a16:creationId xmlns:a16="http://schemas.microsoft.com/office/drawing/2014/main" id="{AB090819-4030-410C-AD6C-DA1831923142}"/>
              </a:ext>
            </a:extLst>
          </p:cNvPr>
          <p:cNvSpPr txBox="1"/>
          <p:nvPr/>
        </p:nvSpPr>
        <p:spPr>
          <a:xfrm>
            <a:off x="0" y="3116648"/>
            <a:ext cx="8436634" cy="369332"/>
          </a:xfrm>
          <a:prstGeom prst="rect">
            <a:avLst/>
          </a:prstGeom>
          <a:noFill/>
        </p:spPr>
        <p:txBody>
          <a:bodyPr wrap="square" rtlCol="0">
            <a:spAutoFit/>
          </a:bodyPr>
          <a:lstStyle/>
          <a:p>
            <a:r>
              <a:rPr lang="en-US" altLang="zh-CN" u="sng" dirty="0"/>
              <a:t>Install </a:t>
            </a:r>
            <a:r>
              <a:rPr lang="en-US" altLang="zh-CN" u="sng" dirty="0" err="1"/>
              <a:t>gromacs</a:t>
            </a:r>
            <a:r>
              <a:rPr lang="en-US" altLang="zh-CN" u="sng" dirty="0"/>
              <a:t> (CPU version, </a:t>
            </a:r>
            <a:r>
              <a:rPr lang="en-US" altLang="zh-CN" b="1" i="1" u="sng" dirty="0">
                <a:solidFill>
                  <a:srgbClr val="FF0000"/>
                </a:solidFill>
              </a:rPr>
              <a:t>for GPU version see</a:t>
            </a:r>
            <a:r>
              <a:rPr lang="en-US" altLang="zh-CN" u="sng" dirty="0">
                <a:solidFill>
                  <a:srgbClr val="FF0000"/>
                </a:solidFill>
              </a:rPr>
              <a:t> </a:t>
            </a:r>
            <a:r>
              <a:rPr lang="en-US" altLang="zh-CN" u="sng" dirty="0"/>
              <a:t>http://sobereva.com/457)</a:t>
            </a:r>
            <a:endParaRPr lang="zh-CN" altLang="en-US" u="sng" dirty="0"/>
          </a:p>
        </p:txBody>
      </p:sp>
      <p:sp>
        <p:nvSpPr>
          <p:cNvPr id="11" name="文本框 10">
            <a:extLst>
              <a:ext uri="{FF2B5EF4-FFF2-40B4-BE49-F238E27FC236}">
                <a16:creationId xmlns:a16="http://schemas.microsoft.com/office/drawing/2014/main" id="{30B5829E-0845-4A37-9612-B48ACC8F0F8D}"/>
              </a:ext>
            </a:extLst>
          </p:cNvPr>
          <p:cNvSpPr txBox="1"/>
          <p:nvPr/>
        </p:nvSpPr>
        <p:spPr>
          <a:xfrm>
            <a:off x="452180" y="3461328"/>
            <a:ext cx="6120440" cy="369332"/>
          </a:xfrm>
          <a:prstGeom prst="rect">
            <a:avLst/>
          </a:prstGeom>
          <a:noFill/>
        </p:spPr>
        <p:txBody>
          <a:bodyPr wrap="square">
            <a:spAutoFit/>
          </a:bodyPr>
          <a:lstStyle/>
          <a:p>
            <a:r>
              <a:rPr lang="en-US" altLang="zh-CN" dirty="0"/>
              <a:t>https://manual.gromacs.org/</a:t>
            </a:r>
            <a:endParaRPr lang="zh-CN" altLang="en-US" dirty="0"/>
          </a:p>
        </p:txBody>
      </p:sp>
      <p:sp>
        <p:nvSpPr>
          <p:cNvPr id="13" name="文本框 12">
            <a:extLst>
              <a:ext uri="{FF2B5EF4-FFF2-40B4-BE49-F238E27FC236}">
                <a16:creationId xmlns:a16="http://schemas.microsoft.com/office/drawing/2014/main" id="{5DAB804F-A089-470F-943F-2109E6F28E35}"/>
              </a:ext>
            </a:extLst>
          </p:cNvPr>
          <p:cNvSpPr txBox="1"/>
          <p:nvPr/>
        </p:nvSpPr>
        <p:spPr>
          <a:xfrm>
            <a:off x="482903" y="2252478"/>
            <a:ext cx="8076480" cy="923330"/>
          </a:xfrm>
          <a:prstGeom prst="rect">
            <a:avLst/>
          </a:prstGeom>
          <a:noFill/>
        </p:spPr>
        <p:txBody>
          <a:bodyPr wrap="square">
            <a:spAutoFit/>
          </a:bodyPr>
          <a:lstStyle/>
          <a:p>
            <a:r>
              <a:rPr lang="en-US" altLang="zh-CN" dirty="0"/>
              <a:t>export PLUMED_ROOT=/path/to/plumed/lib/plumed/</a:t>
            </a:r>
          </a:p>
          <a:p>
            <a:r>
              <a:rPr lang="en-US" altLang="zh-CN" dirty="0"/>
              <a:t>export PATH=/path/to/plumed/bin:$PATH</a:t>
            </a:r>
          </a:p>
          <a:p>
            <a:r>
              <a:rPr lang="en-US" altLang="zh-CN" dirty="0"/>
              <a:t>export LD_LIBRARY_PATH=/path/to/plumed/:$LD_LIBRARY_PATH</a:t>
            </a:r>
          </a:p>
        </p:txBody>
      </p:sp>
      <p:sp>
        <p:nvSpPr>
          <p:cNvPr id="14" name="文本框 13">
            <a:extLst>
              <a:ext uri="{FF2B5EF4-FFF2-40B4-BE49-F238E27FC236}">
                <a16:creationId xmlns:a16="http://schemas.microsoft.com/office/drawing/2014/main" id="{D0AB04F8-3F94-43B8-8CDD-FF57E575241A}"/>
              </a:ext>
            </a:extLst>
          </p:cNvPr>
          <p:cNvSpPr txBox="1"/>
          <p:nvPr/>
        </p:nvSpPr>
        <p:spPr>
          <a:xfrm>
            <a:off x="0" y="1938037"/>
            <a:ext cx="3873260" cy="369332"/>
          </a:xfrm>
          <a:prstGeom prst="rect">
            <a:avLst/>
          </a:prstGeom>
          <a:noFill/>
        </p:spPr>
        <p:txBody>
          <a:bodyPr wrap="square" rtlCol="0">
            <a:spAutoFit/>
          </a:bodyPr>
          <a:lstStyle/>
          <a:p>
            <a:r>
              <a:rPr lang="en-US" altLang="zh-CN" u="sng" dirty="0"/>
              <a:t>add plumed to .</a:t>
            </a:r>
            <a:r>
              <a:rPr lang="en-US" altLang="zh-CN" u="sng" dirty="0" err="1"/>
              <a:t>bashrc</a:t>
            </a:r>
            <a:endParaRPr lang="zh-CN" altLang="en-US" u="sng" dirty="0"/>
          </a:p>
        </p:txBody>
      </p:sp>
      <p:sp>
        <p:nvSpPr>
          <p:cNvPr id="16" name="文本框 15">
            <a:extLst>
              <a:ext uri="{FF2B5EF4-FFF2-40B4-BE49-F238E27FC236}">
                <a16:creationId xmlns:a16="http://schemas.microsoft.com/office/drawing/2014/main" id="{C7A62BBD-C986-427B-93CB-9566895FEEAA}"/>
              </a:ext>
            </a:extLst>
          </p:cNvPr>
          <p:cNvSpPr txBox="1"/>
          <p:nvPr/>
        </p:nvSpPr>
        <p:spPr>
          <a:xfrm>
            <a:off x="452181" y="3763721"/>
            <a:ext cx="11607548" cy="2308324"/>
          </a:xfrm>
          <a:prstGeom prst="rect">
            <a:avLst/>
          </a:prstGeom>
          <a:noFill/>
        </p:spPr>
        <p:txBody>
          <a:bodyPr wrap="square">
            <a:spAutoFit/>
          </a:bodyPr>
          <a:lstStyle/>
          <a:p>
            <a:r>
              <a:rPr lang="en-US" altLang="zh-CN" dirty="0"/>
              <a:t>&gt; cd gromacs-2021.4</a:t>
            </a:r>
          </a:p>
          <a:p>
            <a:r>
              <a:rPr lang="en-US" altLang="zh-CN" dirty="0"/>
              <a:t>&gt; plumed patch -p</a:t>
            </a:r>
          </a:p>
          <a:p>
            <a:r>
              <a:rPr lang="en-US" altLang="zh-CN" dirty="0"/>
              <a:t>&gt; </a:t>
            </a:r>
            <a:r>
              <a:rPr lang="en-US" altLang="zh-CN" dirty="0" err="1"/>
              <a:t>mkdir</a:t>
            </a:r>
            <a:r>
              <a:rPr lang="en-US" altLang="zh-CN" dirty="0"/>
              <a:t> build</a:t>
            </a:r>
          </a:p>
          <a:p>
            <a:r>
              <a:rPr lang="en-US" altLang="zh-CN" dirty="0"/>
              <a:t>&gt; cd build</a:t>
            </a:r>
          </a:p>
          <a:p>
            <a:r>
              <a:rPr lang="en-US" altLang="zh-CN" dirty="0"/>
              <a:t>&gt; </a:t>
            </a:r>
            <a:r>
              <a:rPr lang="en-US" altLang="zh-CN" dirty="0" err="1"/>
              <a:t>cmake</a:t>
            </a:r>
            <a:r>
              <a:rPr lang="en-US" altLang="zh-CN" dirty="0"/>
              <a:t> .. -DGMX_BUILD_OWN_FFTW=ON -DREGRESSIONTEST_DOWNLOAD=ON  -DCMAKE_INSTALL_PREFIX=</a:t>
            </a:r>
            <a:r>
              <a:rPr lang="en-US" altLang="zh-CN" dirty="0">
                <a:solidFill>
                  <a:srgbClr val="FF0000"/>
                </a:solidFill>
              </a:rPr>
              <a:t>INSTALL_DIR</a:t>
            </a:r>
          </a:p>
          <a:p>
            <a:r>
              <a:rPr lang="en-US" altLang="zh-CN" dirty="0"/>
              <a:t>&gt; make</a:t>
            </a:r>
          </a:p>
          <a:p>
            <a:r>
              <a:rPr lang="en-US" altLang="zh-CN" dirty="0"/>
              <a:t>&gt; make check</a:t>
            </a:r>
          </a:p>
          <a:p>
            <a:r>
              <a:rPr lang="en-US" altLang="zh-CN" dirty="0"/>
              <a:t>&gt; </a:t>
            </a:r>
            <a:r>
              <a:rPr lang="en-US" altLang="zh-CN" dirty="0" err="1"/>
              <a:t>sudo</a:t>
            </a:r>
            <a:r>
              <a:rPr lang="en-US" altLang="zh-CN" dirty="0"/>
              <a:t> make install</a:t>
            </a:r>
          </a:p>
        </p:txBody>
      </p:sp>
      <p:sp>
        <p:nvSpPr>
          <p:cNvPr id="18" name="文本框 17">
            <a:extLst>
              <a:ext uri="{FF2B5EF4-FFF2-40B4-BE49-F238E27FC236}">
                <a16:creationId xmlns:a16="http://schemas.microsoft.com/office/drawing/2014/main" id="{BFA4B22E-A6C2-4200-BA17-8F042C39C3AE}"/>
              </a:ext>
            </a:extLst>
          </p:cNvPr>
          <p:cNvSpPr txBox="1"/>
          <p:nvPr/>
        </p:nvSpPr>
        <p:spPr>
          <a:xfrm>
            <a:off x="452180" y="6374438"/>
            <a:ext cx="6267090" cy="369332"/>
          </a:xfrm>
          <a:prstGeom prst="rect">
            <a:avLst/>
          </a:prstGeom>
          <a:noFill/>
        </p:spPr>
        <p:txBody>
          <a:bodyPr wrap="square">
            <a:spAutoFit/>
          </a:bodyPr>
          <a:lstStyle/>
          <a:p>
            <a:r>
              <a:rPr lang="en-US" altLang="zh-CN" dirty="0"/>
              <a:t>source </a:t>
            </a:r>
            <a:r>
              <a:rPr lang="en-US" altLang="zh-CN" dirty="0">
                <a:solidFill>
                  <a:srgbClr val="FF0000"/>
                </a:solidFill>
              </a:rPr>
              <a:t>/INSTALL_DIR </a:t>
            </a:r>
            <a:r>
              <a:rPr lang="en-US" altLang="zh-CN" dirty="0"/>
              <a:t>/bin/GMXRC</a:t>
            </a:r>
          </a:p>
        </p:txBody>
      </p:sp>
      <p:sp>
        <p:nvSpPr>
          <p:cNvPr id="19" name="文本框 18">
            <a:extLst>
              <a:ext uri="{FF2B5EF4-FFF2-40B4-BE49-F238E27FC236}">
                <a16:creationId xmlns:a16="http://schemas.microsoft.com/office/drawing/2014/main" id="{FB869441-FF96-4AB0-9487-849D099BDE2F}"/>
              </a:ext>
            </a:extLst>
          </p:cNvPr>
          <p:cNvSpPr txBox="1"/>
          <p:nvPr/>
        </p:nvSpPr>
        <p:spPr>
          <a:xfrm>
            <a:off x="0" y="6005106"/>
            <a:ext cx="3873260" cy="369332"/>
          </a:xfrm>
          <a:prstGeom prst="rect">
            <a:avLst/>
          </a:prstGeom>
          <a:noFill/>
        </p:spPr>
        <p:txBody>
          <a:bodyPr wrap="square" rtlCol="0">
            <a:spAutoFit/>
          </a:bodyPr>
          <a:lstStyle/>
          <a:p>
            <a:r>
              <a:rPr lang="en-US" altLang="zh-CN" u="sng" dirty="0"/>
              <a:t>add </a:t>
            </a:r>
            <a:r>
              <a:rPr lang="en-US" altLang="zh-CN" u="sng" dirty="0" err="1"/>
              <a:t>gmx</a:t>
            </a:r>
            <a:r>
              <a:rPr lang="en-US" altLang="zh-CN" u="sng" dirty="0"/>
              <a:t> to .</a:t>
            </a:r>
            <a:r>
              <a:rPr lang="en-US" altLang="zh-CN" u="sng" dirty="0" err="1"/>
              <a:t>bashrc</a:t>
            </a:r>
            <a:endParaRPr lang="zh-CN" altLang="en-US" u="sng" dirty="0"/>
          </a:p>
        </p:txBody>
      </p:sp>
    </p:spTree>
    <p:extLst>
      <p:ext uri="{BB962C8B-B14F-4D97-AF65-F5344CB8AC3E}">
        <p14:creationId xmlns:p14="http://schemas.microsoft.com/office/powerpoint/2010/main" val="2155899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BF0781A-3681-431C-9499-1F2D925C040E}"/>
              </a:ext>
            </a:extLst>
          </p:cNvPr>
          <p:cNvSpPr txBox="1"/>
          <p:nvPr/>
        </p:nvSpPr>
        <p:spPr>
          <a:xfrm>
            <a:off x="0" y="0"/>
            <a:ext cx="6120440" cy="369332"/>
          </a:xfrm>
          <a:prstGeom prst="rect">
            <a:avLst/>
          </a:prstGeom>
          <a:noFill/>
        </p:spPr>
        <p:txBody>
          <a:bodyPr wrap="square">
            <a:spAutoFit/>
          </a:bodyPr>
          <a:lstStyle/>
          <a:p>
            <a:r>
              <a:rPr lang="en-US" altLang="zh-CN" u="sng" dirty="0" err="1"/>
              <a:t>MetaDynamics</a:t>
            </a:r>
            <a:endParaRPr lang="zh-CN" altLang="en-US" u="sng" dirty="0"/>
          </a:p>
        </p:txBody>
      </p:sp>
      <p:sp>
        <p:nvSpPr>
          <p:cNvPr id="6" name="文本框 5">
            <a:extLst>
              <a:ext uri="{FF2B5EF4-FFF2-40B4-BE49-F238E27FC236}">
                <a16:creationId xmlns:a16="http://schemas.microsoft.com/office/drawing/2014/main" id="{188D658E-E377-45D5-A7D3-308914ED898A}"/>
              </a:ext>
            </a:extLst>
          </p:cNvPr>
          <p:cNvSpPr txBox="1"/>
          <p:nvPr/>
        </p:nvSpPr>
        <p:spPr>
          <a:xfrm>
            <a:off x="506802" y="610872"/>
            <a:ext cx="11026715" cy="646331"/>
          </a:xfrm>
          <a:prstGeom prst="rect">
            <a:avLst/>
          </a:prstGeom>
          <a:noFill/>
        </p:spPr>
        <p:txBody>
          <a:bodyPr wrap="square">
            <a:spAutoFit/>
          </a:bodyPr>
          <a:lstStyle/>
          <a:p>
            <a:r>
              <a:rPr lang="en-US" altLang="zh-CN" dirty="0"/>
              <a:t>In a </a:t>
            </a:r>
            <a:r>
              <a:rPr lang="en-US" altLang="zh-CN" dirty="0" err="1"/>
              <a:t>metadynamics</a:t>
            </a:r>
            <a:r>
              <a:rPr lang="en-US" altLang="zh-CN" dirty="0"/>
              <a:t> simulations a history dependent bias composed of intermittently added Gaussian functions is </a:t>
            </a:r>
            <a:r>
              <a:rPr lang="en-US" altLang="zh-CN" b="1" dirty="0"/>
              <a:t>added to the potential</a:t>
            </a:r>
            <a:endParaRPr lang="zh-CN" altLang="en-US" b="1" dirty="0"/>
          </a:p>
        </p:txBody>
      </p:sp>
      <p:pic>
        <p:nvPicPr>
          <p:cNvPr id="10" name="图片 9">
            <a:extLst>
              <a:ext uri="{FF2B5EF4-FFF2-40B4-BE49-F238E27FC236}">
                <a16:creationId xmlns:a16="http://schemas.microsoft.com/office/drawing/2014/main" id="{2F3F1551-8331-450F-A20D-55E02AEE3452}"/>
              </a:ext>
            </a:extLst>
          </p:cNvPr>
          <p:cNvPicPr>
            <a:picLocks noChangeAspect="1"/>
          </p:cNvPicPr>
          <p:nvPr/>
        </p:nvPicPr>
        <p:blipFill>
          <a:blip r:embed="rId2"/>
          <a:stretch>
            <a:fillRect/>
          </a:stretch>
        </p:blipFill>
        <p:spPr>
          <a:xfrm>
            <a:off x="2926774" y="1222640"/>
            <a:ext cx="3871295" cy="807790"/>
          </a:xfrm>
          <a:prstGeom prst="rect">
            <a:avLst/>
          </a:prstGeom>
        </p:spPr>
      </p:pic>
      <p:sp>
        <p:nvSpPr>
          <p:cNvPr id="12" name="文本框 11">
            <a:extLst>
              <a:ext uri="{FF2B5EF4-FFF2-40B4-BE49-F238E27FC236}">
                <a16:creationId xmlns:a16="http://schemas.microsoft.com/office/drawing/2014/main" id="{9DDF8E0D-F341-412F-84F1-F1CDD1C904F6}"/>
              </a:ext>
            </a:extLst>
          </p:cNvPr>
          <p:cNvSpPr txBox="1"/>
          <p:nvPr/>
        </p:nvSpPr>
        <p:spPr>
          <a:xfrm>
            <a:off x="506802" y="1995867"/>
            <a:ext cx="11449409" cy="646331"/>
          </a:xfrm>
          <a:prstGeom prst="rect">
            <a:avLst/>
          </a:prstGeom>
          <a:noFill/>
        </p:spPr>
        <p:txBody>
          <a:bodyPr wrap="square">
            <a:spAutoFit/>
          </a:bodyPr>
          <a:lstStyle/>
          <a:p>
            <a:r>
              <a:rPr lang="en-US" altLang="zh-CN" dirty="0"/>
              <a:t>This potential forces the system away from the kinetic traps in the potential energy surface and out into the unexplored parts of the energy landscape.</a:t>
            </a:r>
            <a:endParaRPr lang="zh-CN" altLang="en-US" dirty="0"/>
          </a:p>
        </p:txBody>
      </p:sp>
      <p:sp>
        <p:nvSpPr>
          <p:cNvPr id="14" name="文本框 13">
            <a:extLst>
              <a:ext uri="{FF2B5EF4-FFF2-40B4-BE49-F238E27FC236}">
                <a16:creationId xmlns:a16="http://schemas.microsoft.com/office/drawing/2014/main" id="{994992AC-E4BE-4538-88C1-632DEF06DF10}"/>
              </a:ext>
            </a:extLst>
          </p:cNvPr>
          <p:cNvSpPr txBox="1"/>
          <p:nvPr/>
        </p:nvSpPr>
        <p:spPr>
          <a:xfrm>
            <a:off x="506801" y="2734531"/>
            <a:ext cx="10811055" cy="369332"/>
          </a:xfrm>
          <a:prstGeom prst="rect">
            <a:avLst/>
          </a:prstGeom>
          <a:noFill/>
        </p:spPr>
        <p:txBody>
          <a:bodyPr wrap="square">
            <a:spAutoFit/>
          </a:bodyPr>
          <a:lstStyle/>
          <a:p>
            <a:r>
              <a:rPr lang="en-US" altLang="zh-CN" dirty="0"/>
              <a:t>The free energy can be reconstructed from a </a:t>
            </a:r>
            <a:r>
              <a:rPr lang="en-US" altLang="zh-CN" dirty="0" err="1"/>
              <a:t>metadynamics</a:t>
            </a:r>
            <a:r>
              <a:rPr lang="en-US" altLang="zh-CN" dirty="0"/>
              <a:t> calculation because the final bias is given by:</a:t>
            </a:r>
            <a:endParaRPr lang="zh-CN" altLang="en-US" dirty="0"/>
          </a:p>
        </p:txBody>
      </p:sp>
      <p:pic>
        <p:nvPicPr>
          <p:cNvPr id="16" name="图片 15">
            <a:extLst>
              <a:ext uri="{FF2B5EF4-FFF2-40B4-BE49-F238E27FC236}">
                <a16:creationId xmlns:a16="http://schemas.microsoft.com/office/drawing/2014/main" id="{5B17AABE-084D-4E53-B998-A121BE67FE0D}"/>
              </a:ext>
            </a:extLst>
          </p:cNvPr>
          <p:cNvPicPr>
            <a:picLocks noChangeAspect="1"/>
          </p:cNvPicPr>
          <p:nvPr/>
        </p:nvPicPr>
        <p:blipFill>
          <a:blip r:embed="rId3"/>
          <a:stretch>
            <a:fillRect/>
          </a:stretch>
        </p:blipFill>
        <p:spPr>
          <a:xfrm>
            <a:off x="2931086" y="3159240"/>
            <a:ext cx="1486029" cy="472481"/>
          </a:xfrm>
          <a:prstGeom prst="rect">
            <a:avLst/>
          </a:prstGeom>
        </p:spPr>
      </p:pic>
      <p:sp>
        <p:nvSpPr>
          <p:cNvPr id="19" name="文本框 18">
            <a:extLst>
              <a:ext uri="{FF2B5EF4-FFF2-40B4-BE49-F238E27FC236}">
                <a16:creationId xmlns:a16="http://schemas.microsoft.com/office/drawing/2014/main" id="{599C15C4-1A84-4084-AF06-59AAF9FB223A}"/>
              </a:ext>
            </a:extLst>
          </p:cNvPr>
          <p:cNvSpPr txBox="1"/>
          <p:nvPr/>
        </p:nvSpPr>
        <p:spPr>
          <a:xfrm>
            <a:off x="0" y="3701665"/>
            <a:ext cx="2296463" cy="369332"/>
          </a:xfrm>
          <a:prstGeom prst="rect">
            <a:avLst/>
          </a:prstGeom>
          <a:noFill/>
        </p:spPr>
        <p:txBody>
          <a:bodyPr wrap="none" rtlCol="0">
            <a:spAutoFit/>
          </a:bodyPr>
          <a:lstStyle/>
          <a:p>
            <a:r>
              <a:rPr lang="en-US" altLang="zh-CN" u="sng" dirty="0"/>
              <a:t>Example plumed input</a:t>
            </a:r>
            <a:endParaRPr lang="zh-CN" altLang="en-US" u="sng" dirty="0"/>
          </a:p>
        </p:txBody>
      </p:sp>
      <p:sp>
        <p:nvSpPr>
          <p:cNvPr id="21" name="文本框 20">
            <a:extLst>
              <a:ext uri="{FF2B5EF4-FFF2-40B4-BE49-F238E27FC236}">
                <a16:creationId xmlns:a16="http://schemas.microsoft.com/office/drawing/2014/main" id="{5B4794A9-E0B6-40F1-BEE6-50762DE18F0F}"/>
              </a:ext>
            </a:extLst>
          </p:cNvPr>
          <p:cNvSpPr txBox="1"/>
          <p:nvPr/>
        </p:nvSpPr>
        <p:spPr>
          <a:xfrm>
            <a:off x="506801" y="4510273"/>
            <a:ext cx="6120440" cy="1477328"/>
          </a:xfrm>
          <a:prstGeom prst="rect">
            <a:avLst/>
          </a:prstGeom>
          <a:noFill/>
        </p:spPr>
        <p:txBody>
          <a:bodyPr wrap="square">
            <a:spAutoFit/>
          </a:bodyPr>
          <a:lstStyle/>
          <a:p>
            <a:r>
              <a:rPr lang="en-US" altLang="zh-CN" dirty="0"/>
              <a:t>d1: DISTANCE ATOMS=3,5 </a:t>
            </a:r>
          </a:p>
          <a:p>
            <a:r>
              <a:rPr lang="en-US" altLang="zh-CN" dirty="0"/>
              <a:t>d2: DISTANCE ATOMS=2,4 </a:t>
            </a:r>
          </a:p>
          <a:p>
            <a:r>
              <a:rPr lang="en-US" altLang="zh-CN" dirty="0"/>
              <a:t>restraint: METAD ARG=d1,d2 SIGMA=0.2,0.2 HEIGHT=0.3 PACE=500 </a:t>
            </a:r>
          </a:p>
          <a:p>
            <a:r>
              <a:rPr lang="en-US" altLang="zh-CN" dirty="0"/>
              <a:t>PRINT ARG=d1,d2,restraint.bias STRIDE=100 FILE=COLVAR </a:t>
            </a:r>
            <a:endParaRPr lang="zh-CN" altLang="en-US" dirty="0"/>
          </a:p>
        </p:txBody>
      </p:sp>
    </p:spTree>
    <p:extLst>
      <p:ext uri="{BB962C8B-B14F-4D97-AF65-F5344CB8AC3E}">
        <p14:creationId xmlns:p14="http://schemas.microsoft.com/office/powerpoint/2010/main" val="3930117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CD1F38C-C1D6-4D3B-BCA3-29A128B9B1C2}"/>
              </a:ext>
            </a:extLst>
          </p:cNvPr>
          <p:cNvSpPr txBox="1"/>
          <p:nvPr/>
        </p:nvSpPr>
        <p:spPr>
          <a:xfrm>
            <a:off x="423856" y="1966822"/>
            <a:ext cx="4502990" cy="3139321"/>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t>For a </a:t>
            </a:r>
            <a:r>
              <a:rPr lang="en-US" altLang="zh-CN" dirty="0" err="1"/>
              <a:t>multistable</a:t>
            </a:r>
            <a:r>
              <a:rPr lang="en-US" altLang="zh-CN" dirty="0"/>
              <a:t>  system, a minimum criterion for this low-​dimensional projection is that different metastable states should correspond to different values of the CVs.</a:t>
            </a:r>
          </a:p>
          <a:p>
            <a:endParaRPr lang="en-US" altLang="zh-CN" dirty="0"/>
          </a:p>
          <a:p>
            <a:pPr marL="285750" indent="-285750">
              <a:buFont typeface="Arial" panose="020B0604020202020204" pitchFamily="34" charset="0"/>
              <a:buChar char="•"/>
            </a:pPr>
            <a:r>
              <a:rPr lang="en-US" altLang="zh-CN" sz="1800" dirty="0">
                <a:solidFill>
                  <a:srgbClr val="000000"/>
                </a:solidFill>
                <a:effectLst/>
                <a:latin typeface="MinionPro-Regular"/>
              </a:rPr>
              <a:t>CVs should be able to distinguish transition states.</a:t>
            </a:r>
          </a:p>
          <a:p>
            <a:pPr marL="285750" indent="-285750">
              <a:buFont typeface="Arial" panose="020B0604020202020204" pitchFamily="34" charset="0"/>
              <a:buChar char="•"/>
            </a:pPr>
            <a:endParaRPr lang="en-US" altLang="zh-CN" dirty="0">
              <a:solidFill>
                <a:srgbClr val="000000"/>
              </a:solidFill>
              <a:latin typeface="MinionPro-Regular"/>
            </a:endParaRPr>
          </a:p>
          <a:p>
            <a:pPr marL="285750" indent="-285750">
              <a:buFont typeface="Arial" panose="020B0604020202020204" pitchFamily="34" charset="0"/>
              <a:buChar char="•"/>
            </a:pPr>
            <a:r>
              <a:rPr lang="en-US" altLang="zh-CN" dirty="0">
                <a:solidFill>
                  <a:srgbClr val="000000"/>
                </a:solidFill>
                <a:latin typeface="MinionPro-Regular"/>
              </a:rPr>
              <a:t>T</a:t>
            </a:r>
            <a:r>
              <a:rPr lang="en-US" altLang="zh-CN" sz="1800" dirty="0">
                <a:solidFill>
                  <a:srgbClr val="000000"/>
                </a:solidFill>
                <a:effectLst/>
                <a:latin typeface="MinionPro-Regular"/>
              </a:rPr>
              <a:t>he number of employed CVs should not be too large.</a:t>
            </a:r>
            <a:endParaRPr lang="zh-CN" altLang="en-US" dirty="0"/>
          </a:p>
        </p:txBody>
      </p:sp>
      <p:pic>
        <p:nvPicPr>
          <p:cNvPr id="6" name="图片 5">
            <a:extLst>
              <a:ext uri="{FF2B5EF4-FFF2-40B4-BE49-F238E27FC236}">
                <a16:creationId xmlns:a16="http://schemas.microsoft.com/office/drawing/2014/main" id="{C3A95FDB-C602-41C8-A04A-AE2AEAE3FC1E}"/>
              </a:ext>
            </a:extLst>
          </p:cNvPr>
          <p:cNvPicPr>
            <a:picLocks noChangeAspect="1"/>
          </p:cNvPicPr>
          <p:nvPr/>
        </p:nvPicPr>
        <p:blipFill>
          <a:blip r:embed="rId2"/>
          <a:stretch>
            <a:fillRect/>
          </a:stretch>
        </p:blipFill>
        <p:spPr>
          <a:xfrm>
            <a:off x="5244859" y="606338"/>
            <a:ext cx="6523285" cy="5860288"/>
          </a:xfrm>
          <a:prstGeom prst="rect">
            <a:avLst/>
          </a:prstGeom>
        </p:spPr>
      </p:pic>
      <p:sp>
        <p:nvSpPr>
          <p:cNvPr id="8" name="文本框 7">
            <a:extLst>
              <a:ext uri="{FF2B5EF4-FFF2-40B4-BE49-F238E27FC236}">
                <a16:creationId xmlns:a16="http://schemas.microsoft.com/office/drawing/2014/main" id="{5EE056F7-60C2-479A-BE69-D947AB684B60}"/>
              </a:ext>
            </a:extLst>
          </p:cNvPr>
          <p:cNvSpPr txBox="1"/>
          <p:nvPr/>
        </p:nvSpPr>
        <p:spPr>
          <a:xfrm>
            <a:off x="1438" y="0"/>
            <a:ext cx="6094562" cy="369332"/>
          </a:xfrm>
          <a:prstGeom prst="rect">
            <a:avLst/>
          </a:prstGeom>
          <a:noFill/>
        </p:spPr>
        <p:txBody>
          <a:bodyPr wrap="square">
            <a:spAutoFit/>
          </a:bodyPr>
          <a:lstStyle/>
          <a:p>
            <a:r>
              <a:rPr lang="en-US" altLang="zh-CN" u="sng" dirty="0"/>
              <a:t>Choosing the CVs</a:t>
            </a:r>
            <a:endParaRPr lang="zh-CN" altLang="en-US" u="sng" dirty="0"/>
          </a:p>
        </p:txBody>
      </p:sp>
    </p:spTree>
    <p:extLst>
      <p:ext uri="{BB962C8B-B14F-4D97-AF65-F5344CB8AC3E}">
        <p14:creationId xmlns:p14="http://schemas.microsoft.com/office/powerpoint/2010/main" val="2008806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9A6E849-BA9E-42C6-9957-AC45051CA2EF}"/>
              </a:ext>
            </a:extLst>
          </p:cNvPr>
          <p:cNvSpPr txBox="1"/>
          <p:nvPr/>
        </p:nvSpPr>
        <p:spPr>
          <a:xfrm>
            <a:off x="1438" y="0"/>
            <a:ext cx="6094562" cy="369332"/>
          </a:xfrm>
          <a:prstGeom prst="rect">
            <a:avLst/>
          </a:prstGeom>
          <a:noFill/>
        </p:spPr>
        <p:txBody>
          <a:bodyPr wrap="square">
            <a:spAutoFit/>
          </a:bodyPr>
          <a:lstStyle/>
          <a:p>
            <a:r>
              <a:rPr lang="en-US" altLang="zh-CN" u="sng" dirty="0"/>
              <a:t>Well-tempered </a:t>
            </a:r>
            <a:r>
              <a:rPr lang="en-US" altLang="zh-CN" u="sng" dirty="0" err="1"/>
              <a:t>metadynamics</a:t>
            </a:r>
            <a:endParaRPr lang="zh-CN" altLang="en-US" u="sng" dirty="0"/>
          </a:p>
        </p:txBody>
      </p:sp>
      <p:pic>
        <p:nvPicPr>
          <p:cNvPr id="5" name="图片 4">
            <a:extLst>
              <a:ext uri="{FF2B5EF4-FFF2-40B4-BE49-F238E27FC236}">
                <a16:creationId xmlns:a16="http://schemas.microsoft.com/office/drawing/2014/main" id="{F57AC97B-7DF1-4F8A-85A6-365F56DDDCA9}"/>
              </a:ext>
            </a:extLst>
          </p:cNvPr>
          <p:cNvPicPr>
            <a:picLocks noChangeAspect="1"/>
          </p:cNvPicPr>
          <p:nvPr/>
        </p:nvPicPr>
        <p:blipFill>
          <a:blip r:embed="rId2"/>
          <a:stretch>
            <a:fillRect/>
          </a:stretch>
        </p:blipFill>
        <p:spPr>
          <a:xfrm>
            <a:off x="2621252" y="2016448"/>
            <a:ext cx="5296359" cy="792549"/>
          </a:xfrm>
          <a:prstGeom prst="rect">
            <a:avLst/>
          </a:prstGeom>
        </p:spPr>
      </p:pic>
      <p:sp>
        <p:nvSpPr>
          <p:cNvPr id="6" name="文本框 5">
            <a:extLst>
              <a:ext uri="{FF2B5EF4-FFF2-40B4-BE49-F238E27FC236}">
                <a16:creationId xmlns:a16="http://schemas.microsoft.com/office/drawing/2014/main" id="{24E83ED1-4A8F-499A-9156-07EF046E6813}"/>
              </a:ext>
            </a:extLst>
          </p:cNvPr>
          <p:cNvSpPr txBox="1"/>
          <p:nvPr/>
        </p:nvSpPr>
        <p:spPr>
          <a:xfrm>
            <a:off x="0" y="3923958"/>
            <a:ext cx="2296463" cy="369332"/>
          </a:xfrm>
          <a:prstGeom prst="rect">
            <a:avLst/>
          </a:prstGeom>
          <a:noFill/>
        </p:spPr>
        <p:txBody>
          <a:bodyPr wrap="none" rtlCol="0">
            <a:spAutoFit/>
          </a:bodyPr>
          <a:lstStyle/>
          <a:p>
            <a:r>
              <a:rPr lang="en-US" altLang="zh-CN" u="sng" dirty="0"/>
              <a:t>Example plumed input</a:t>
            </a:r>
            <a:endParaRPr lang="zh-CN" altLang="en-US" u="sng" dirty="0"/>
          </a:p>
        </p:txBody>
      </p:sp>
      <p:sp>
        <p:nvSpPr>
          <p:cNvPr id="8" name="文本框 7">
            <a:extLst>
              <a:ext uri="{FF2B5EF4-FFF2-40B4-BE49-F238E27FC236}">
                <a16:creationId xmlns:a16="http://schemas.microsoft.com/office/drawing/2014/main" id="{4E989F08-9E25-407A-B64C-9F6A97A55320}"/>
              </a:ext>
            </a:extLst>
          </p:cNvPr>
          <p:cNvSpPr txBox="1"/>
          <p:nvPr/>
        </p:nvSpPr>
        <p:spPr>
          <a:xfrm>
            <a:off x="493863" y="1690412"/>
            <a:ext cx="6120440" cy="369332"/>
          </a:xfrm>
          <a:prstGeom prst="rect">
            <a:avLst/>
          </a:prstGeom>
          <a:noFill/>
        </p:spPr>
        <p:txBody>
          <a:bodyPr wrap="square">
            <a:spAutoFit/>
          </a:bodyPr>
          <a:lstStyle/>
          <a:p>
            <a:r>
              <a:rPr lang="en-US" altLang="zh-CN" dirty="0"/>
              <a:t>This method ensures that the bias converges more smoothly. </a:t>
            </a:r>
            <a:endParaRPr lang="zh-CN" altLang="en-US" dirty="0"/>
          </a:p>
        </p:txBody>
      </p:sp>
      <p:sp>
        <p:nvSpPr>
          <p:cNvPr id="10" name="文本框 9">
            <a:extLst>
              <a:ext uri="{FF2B5EF4-FFF2-40B4-BE49-F238E27FC236}">
                <a16:creationId xmlns:a16="http://schemas.microsoft.com/office/drawing/2014/main" id="{8CF4723C-5EB8-48F8-B392-B8F78F9D44EF}"/>
              </a:ext>
            </a:extLst>
          </p:cNvPr>
          <p:cNvSpPr txBox="1"/>
          <p:nvPr/>
        </p:nvSpPr>
        <p:spPr>
          <a:xfrm>
            <a:off x="6675225" y="3974935"/>
            <a:ext cx="5244860" cy="369332"/>
          </a:xfrm>
          <a:prstGeom prst="rect">
            <a:avLst/>
          </a:prstGeom>
          <a:noFill/>
        </p:spPr>
        <p:txBody>
          <a:bodyPr wrap="square" rtlCol="0">
            <a:spAutoFit/>
          </a:bodyPr>
          <a:lstStyle/>
          <a:p>
            <a:r>
              <a:rPr lang="en-US" altLang="zh-CN" u="sng" dirty="0"/>
              <a:t>How to choose BIASFACTOR </a:t>
            </a:r>
            <a:endParaRPr lang="zh-CN" altLang="en-US" u="sng" dirty="0"/>
          </a:p>
        </p:txBody>
      </p:sp>
      <p:pic>
        <p:nvPicPr>
          <p:cNvPr id="4" name="图片 3">
            <a:extLst>
              <a:ext uri="{FF2B5EF4-FFF2-40B4-BE49-F238E27FC236}">
                <a16:creationId xmlns:a16="http://schemas.microsoft.com/office/drawing/2014/main" id="{C33CC013-1E23-4AEC-93D1-E3DBF895D530}"/>
              </a:ext>
            </a:extLst>
          </p:cNvPr>
          <p:cNvPicPr>
            <a:picLocks noChangeAspect="1"/>
          </p:cNvPicPr>
          <p:nvPr/>
        </p:nvPicPr>
        <p:blipFill>
          <a:blip r:embed="rId3"/>
          <a:stretch>
            <a:fillRect/>
          </a:stretch>
        </p:blipFill>
        <p:spPr>
          <a:xfrm>
            <a:off x="629806" y="380271"/>
            <a:ext cx="2568163" cy="800169"/>
          </a:xfrm>
          <a:prstGeom prst="rect">
            <a:avLst/>
          </a:prstGeom>
        </p:spPr>
      </p:pic>
      <p:pic>
        <p:nvPicPr>
          <p:cNvPr id="9" name="图片 8">
            <a:extLst>
              <a:ext uri="{FF2B5EF4-FFF2-40B4-BE49-F238E27FC236}">
                <a16:creationId xmlns:a16="http://schemas.microsoft.com/office/drawing/2014/main" id="{3D012DCA-8F36-4F74-8F7A-6D90C5156BDD}"/>
              </a:ext>
            </a:extLst>
          </p:cNvPr>
          <p:cNvPicPr>
            <a:picLocks noChangeAspect="1"/>
          </p:cNvPicPr>
          <p:nvPr/>
        </p:nvPicPr>
        <p:blipFill>
          <a:blip r:embed="rId4"/>
          <a:stretch>
            <a:fillRect/>
          </a:stretch>
        </p:blipFill>
        <p:spPr>
          <a:xfrm>
            <a:off x="7354387" y="369332"/>
            <a:ext cx="3886537" cy="777307"/>
          </a:xfrm>
          <a:prstGeom prst="rect">
            <a:avLst/>
          </a:prstGeom>
        </p:spPr>
      </p:pic>
      <p:sp>
        <p:nvSpPr>
          <p:cNvPr id="11" name="文本框 10">
            <a:extLst>
              <a:ext uri="{FF2B5EF4-FFF2-40B4-BE49-F238E27FC236}">
                <a16:creationId xmlns:a16="http://schemas.microsoft.com/office/drawing/2014/main" id="{7A4DCBEB-D22D-417B-B1CF-276208C52D24}"/>
              </a:ext>
            </a:extLst>
          </p:cNvPr>
          <p:cNvSpPr txBox="1"/>
          <p:nvPr/>
        </p:nvSpPr>
        <p:spPr>
          <a:xfrm>
            <a:off x="1045496" y="1220734"/>
            <a:ext cx="1647645" cy="369332"/>
          </a:xfrm>
          <a:prstGeom prst="rect">
            <a:avLst/>
          </a:prstGeom>
          <a:noFill/>
        </p:spPr>
        <p:txBody>
          <a:bodyPr wrap="square">
            <a:spAutoFit/>
          </a:bodyPr>
          <a:lstStyle/>
          <a:p>
            <a:r>
              <a:rPr lang="en-US" altLang="zh-CN" dirty="0" err="1"/>
              <a:t>MetaDynamics</a:t>
            </a:r>
            <a:endParaRPr lang="zh-CN" altLang="en-US" dirty="0"/>
          </a:p>
        </p:txBody>
      </p:sp>
      <p:sp>
        <p:nvSpPr>
          <p:cNvPr id="12" name="文本框 11">
            <a:extLst>
              <a:ext uri="{FF2B5EF4-FFF2-40B4-BE49-F238E27FC236}">
                <a16:creationId xmlns:a16="http://schemas.microsoft.com/office/drawing/2014/main" id="{967E2B94-189F-41C5-A91B-B490C93DE980}"/>
              </a:ext>
            </a:extLst>
          </p:cNvPr>
          <p:cNvSpPr txBox="1"/>
          <p:nvPr/>
        </p:nvSpPr>
        <p:spPr>
          <a:xfrm>
            <a:off x="7917611" y="1146639"/>
            <a:ext cx="3072441" cy="369332"/>
          </a:xfrm>
          <a:prstGeom prst="rect">
            <a:avLst/>
          </a:prstGeom>
          <a:noFill/>
        </p:spPr>
        <p:txBody>
          <a:bodyPr wrap="square">
            <a:spAutoFit/>
          </a:bodyPr>
          <a:lstStyle/>
          <a:p>
            <a:r>
              <a:rPr lang="en-US" altLang="zh-CN" dirty="0"/>
              <a:t>Well-tempered </a:t>
            </a:r>
            <a:r>
              <a:rPr lang="en-US" altLang="zh-CN" dirty="0" err="1"/>
              <a:t>metadynamics</a:t>
            </a:r>
            <a:endParaRPr lang="zh-CN" altLang="en-US" dirty="0"/>
          </a:p>
        </p:txBody>
      </p:sp>
      <p:cxnSp>
        <p:nvCxnSpPr>
          <p:cNvPr id="14" name="直接箭头连接符 13">
            <a:extLst>
              <a:ext uri="{FF2B5EF4-FFF2-40B4-BE49-F238E27FC236}">
                <a16:creationId xmlns:a16="http://schemas.microsoft.com/office/drawing/2014/main" id="{27CC59D7-1C04-4975-8552-B3882BCD352D}"/>
              </a:ext>
            </a:extLst>
          </p:cNvPr>
          <p:cNvCxnSpPr>
            <a:cxnSpLocks/>
          </p:cNvCxnSpPr>
          <p:nvPr/>
        </p:nvCxnSpPr>
        <p:spPr>
          <a:xfrm flipV="1">
            <a:off x="3345297" y="925310"/>
            <a:ext cx="3769248" cy="271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文本框 15">
            <a:extLst>
              <a:ext uri="{FF2B5EF4-FFF2-40B4-BE49-F238E27FC236}">
                <a16:creationId xmlns:a16="http://schemas.microsoft.com/office/drawing/2014/main" id="{E16C5AB5-9717-4590-8EC8-9CF8C85FE5E1}"/>
              </a:ext>
            </a:extLst>
          </p:cNvPr>
          <p:cNvSpPr txBox="1"/>
          <p:nvPr/>
        </p:nvSpPr>
        <p:spPr>
          <a:xfrm>
            <a:off x="3247755" y="498423"/>
            <a:ext cx="3866790" cy="369332"/>
          </a:xfrm>
          <a:prstGeom prst="rect">
            <a:avLst/>
          </a:prstGeom>
          <a:noFill/>
        </p:spPr>
        <p:txBody>
          <a:bodyPr wrap="square">
            <a:spAutoFit/>
          </a:bodyPr>
          <a:lstStyle/>
          <a:p>
            <a:r>
              <a:rPr lang="en-US" altLang="zh-CN" dirty="0"/>
              <a:t>adding a decaying exponential function</a:t>
            </a:r>
            <a:endParaRPr lang="zh-CN" altLang="en-US" dirty="0"/>
          </a:p>
        </p:txBody>
      </p:sp>
      <mc:AlternateContent xmlns:mc="http://schemas.openxmlformats.org/markup-compatibility/2006">
        <mc:Choice xmlns:a14="http://schemas.microsoft.com/office/drawing/2010/main" Requires="a14">
          <p:sp>
            <p:nvSpPr>
              <p:cNvPr id="21" name="文本框 20">
                <a:extLst>
                  <a:ext uri="{FF2B5EF4-FFF2-40B4-BE49-F238E27FC236}">
                    <a16:creationId xmlns:a16="http://schemas.microsoft.com/office/drawing/2014/main" id="{906C89D3-59A6-4719-B539-EFE5D3E669FD}"/>
                  </a:ext>
                </a:extLst>
              </p:cNvPr>
              <p:cNvSpPr txBox="1"/>
              <p:nvPr/>
            </p:nvSpPr>
            <p:spPr>
              <a:xfrm>
                <a:off x="6939231" y="1449115"/>
                <a:ext cx="5029199" cy="358175"/>
              </a:xfrm>
              <a:prstGeom prst="rect">
                <a:avLst/>
              </a:prstGeom>
              <a:noFill/>
            </p:spPr>
            <p:txBody>
              <a:bodyPr wrap="square">
                <a:spAutoFit/>
              </a:bodyPr>
              <a:lstStyle/>
              <a:p>
                <a:r>
                  <a:rPr lang="en-US" altLang="zh-CN" sz="1200" dirty="0"/>
                  <a:t>ΔT(T for temperature) is written in terms of a so-​called </a:t>
                </a:r>
                <a:r>
                  <a:rPr lang="en-US" altLang="zh-CN" sz="1200" b="1" dirty="0"/>
                  <a:t>BIAS FACTOR </a:t>
                </a:r>
                <a14:m>
                  <m:oMath xmlns:m="http://schemas.openxmlformats.org/officeDocument/2006/math">
                    <m:r>
                      <m:rPr>
                        <m:sty m:val="p"/>
                      </m:rPr>
                      <a:rPr lang="el-GR" altLang="zh-CN" sz="1200" i="1" dirty="0" smtClean="0">
                        <a:latin typeface="Cambria Math" panose="02040503050406030204" pitchFamily="18" charset="0"/>
                        <a:ea typeface="Cambria Math" panose="02040503050406030204" pitchFamily="18" charset="0"/>
                      </a:rPr>
                      <m:t>γ</m:t>
                    </m:r>
                    <m:r>
                      <a:rPr lang="en-US" altLang="zh-CN" sz="1200" b="0" i="1" dirty="0" smtClean="0">
                        <a:latin typeface="Cambria Math" panose="02040503050406030204" pitchFamily="18" charset="0"/>
                        <a:ea typeface="Cambria Math" panose="02040503050406030204" pitchFamily="18" charset="0"/>
                      </a:rPr>
                      <m:t>=</m:t>
                    </m:r>
                    <m:f>
                      <m:fPr>
                        <m:ctrlPr>
                          <a:rPr lang="en-US" altLang="zh-CN" sz="1200" i="1" dirty="0" smtClean="0">
                            <a:latin typeface="Cambria Math" panose="02040503050406030204" pitchFamily="18" charset="0"/>
                          </a:rPr>
                        </m:ctrlPr>
                      </m:fPr>
                      <m:num>
                        <m:r>
                          <a:rPr lang="en-US" altLang="zh-CN" sz="1200" b="0" i="1" dirty="0" smtClean="0">
                            <a:latin typeface="Cambria Math" panose="02040503050406030204" pitchFamily="18" charset="0"/>
                          </a:rPr>
                          <m:t>𝑇</m:t>
                        </m:r>
                        <m:r>
                          <a:rPr lang="en-US" altLang="zh-CN" sz="1200" b="0" i="1" dirty="0" smtClean="0">
                            <a:latin typeface="Cambria Math" panose="02040503050406030204" pitchFamily="18" charset="0"/>
                          </a:rPr>
                          <m:t>+∆</m:t>
                        </m:r>
                        <m:r>
                          <a:rPr lang="en-US" altLang="zh-CN" sz="1200" b="0" i="1" dirty="0" smtClean="0">
                            <a:latin typeface="Cambria Math" panose="02040503050406030204" pitchFamily="18" charset="0"/>
                            <a:ea typeface="Cambria Math" panose="02040503050406030204" pitchFamily="18" charset="0"/>
                          </a:rPr>
                          <m:t>𝑇</m:t>
                        </m:r>
                      </m:num>
                      <m:den>
                        <m:r>
                          <a:rPr lang="en-US" altLang="zh-CN" sz="1200" i="1" dirty="0" smtClean="0">
                            <a:latin typeface="Cambria Math" panose="02040503050406030204" pitchFamily="18" charset="0"/>
                            <a:ea typeface="Cambria Math" panose="02040503050406030204" pitchFamily="18" charset="0"/>
                          </a:rPr>
                          <m:t>∆</m:t>
                        </m:r>
                        <m:r>
                          <a:rPr lang="en-US" altLang="zh-CN" sz="1200" b="0" i="1" dirty="0" smtClean="0">
                            <a:latin typeface="Cambria Math" panose="02040503050406030204" pitchFamily="18" charset="0"/>
                            <a:ea typeface="Cambria Math" panose="02040503050406030204" pitchFamily="18" charset="0"/>
                          </a:rPr>
                          <m:t>𝑇</m:t>
                        </m:r>
                      </m:den>
                    </m:f>
                  </m:oMath>
                </a14:m>
                <a:endParaRPr lang="zh-CN" altLang="en-US" sz="1200" dirty="0"/>
              </a:p>
            </p:txBody>
          </p:sp>
        </mc:Choice>
        <mc:Fallback>
          <p:sp>
            <p:nvSpPr>
              <p:cNvPr id="21" name="文本框 20">
                <a:extLst>
                  <a:ext uri="{FF2B5EF4-FFF2-40B4-BE49-F238E27FC236}">
                    <a16:creationId xmlns:a16="http://schemas.microsoft.com/office/drawing/2014/main" id="{906C89D3-59A6-4719-B539-EFE5D3E669FD}"/>
                  </a:ext>
                </a:extLst>
              </p:cNvPr>
              <p:cNvSpPr txBox="1">
                <a:spLocks noRot="1" noChangeAspect="1" noMove="1" noResize="1" noEditPoints="1" noAdjustHandles="1" noChangeArrowheads="1" noChangeShapeType="1" noTextEdit="1"/>
              </p:cNvSpPr>
              <p:nvPr/>
            </p:nvSpPr>
            <p:spPr>
              <a:xfrm>
                <a:off x="6939231" y="1449115"/>
                <a:ext cx="5029199" cy="358175"/>
              </a:xfrm>
              <a:prstGeom prst="rect">
                <a:avLst/>
              </a:prstGeom>
              <a:blipFill>
                <a:blip r:embed="rId5"/>
                <a:stretch>
                  <a:fillRect b="-5172"/>
                </a:stretch>
              </a:blipFill>
            </p:spPr>
            <p:txBody>
              <a:bodyPr/>
              <a:lstStyle/>
              <a:p>
                <a:r>
                  <a:rPr lang="zh-CN" altLang="en-US">
                    <a:noFill/>
                  </a:rPr>
                  <a:t> </a:t>
                </a:r>
              </a:p>
            </p:txBody>
          </p:sp>
        </mc:Fallback>
      </mc:AlternateContent>
      <p:sp>
        <p:nvSpPr>
          <p:cNvPr id="23" name="文本框 22">
            <a:extLst>
              <a:ext uri="{FF2B5EF4-FFF2-40B4-BE49-F238E27FC236}">
                <a16:creationId xmlns:a16="http://schemas.microsoft.com/office/drawing/2014/main" id="{A31A7464-E0FE-4540-BEE2-2E3BE296F621}"/>
              </a:ext>
            </a:extLst>
          </p:cNvPr>
          <p:cNvSpPr txBox="1"/>
          <p:nvPr/>
        </p:nvSpPr>
        <p:spPr>
          <a:xfrm>
            <a:off x="331153" y="2780659"/>
            <a:ext cx="12035780" cy="1200329"/>
          </a:xfrm>
          <a:prstGeom prst="rect">
            <a:avLst/>
          </a:prstGeom>
          <a:noFill/>
        </p:spPr>
        <p:txBody>
          <a:bodyPr wrap="square">
            <a:spAutoFit/>
          </a:bodyPr>
          <a:lstStyle/>
          <a:p>
            <a:r>
              <a:rPr lang="en-US" altLang="zh-CN" dirty="0"/>
              <a:t>If boundary conditions are  properly treated, non-​well-​tempered </a:t>
            </a:r>
            <a:r>
              <a:rPr lang="en-US" altLang="zh-CN" dirty="0" err="1"/>
              <a:t>metadynamics</a:t>
            </a:r>
            <a:r>
              <a:rPr lang="en-US" altLang="zh-CN" dirty="0"/>
              <a:t> is guaranteed to reach a stationary state in which the bias potential fluctuates. This stationary state is conditional on filling the relevant free-​energy wells. Well-​tempered </a:t>
            </a:r>
            <a:r>
              <a:rPr lang="en-US" altLang="zh-CN" dirty="0" err="1"/>
              <a:t>metadynamics</a:t>
            </a:r>
            <a:r>
              <a:rPr lang="en-US" altLang="zh-CN" dirty="0"/>
              <a:t>, instead, reaches a quasi-​equilibrium state, in which the bias potential provides an exact estimator for the free energy. Such a quasi-​equilibrium state is guaranteed for only an infinitely long trajectory.</a:t>
            </a:r>
            <a:endParaRPr lang="zh-CN" altLang="en-US" dirty="0"/>
          </a:p>
        </p:txBody>
      </p:sp>
      <p:pic>
        <p:nvPicPr>
          <p:cNvPr id="25" name="图片 24">
            <a:extLst>
              <a:ext uri="{FF2B5EF4-FFF2-40B4-BE49-F238E27FC236}">
                <a16:creationId xmlns:a16="http://schemas.microsoft.com/office/drawing/2014/main" id="{0336DE3E-3E70-4726-A710-C8E154BB14CA}"/>
              </a:ext>
            </a:extLst>
          </p:cNvPr>
          <p:cNvPicPr>
            <a:picLocks noChangeAspect="1"/>
          </p:cNvPicPr>
          <p:nvPr/>
        </p:nvPicPr>
        <p:blipFill>
          <a:blip r:embed="rId6"/>
          <a:stretch>
            <a:fillRect/>
          </a:stretch>
        </p:blipFill>
        <p:spPr>
          <a:xfrm>
            <a:off x="126195" y="4344267"/>
            <a:ext cx="5845047" cy="1859441"/>
          </a:xfrm>
          <a:prstGeom prst="rect">
            <a:avLst/>
          </a:prstGeom>
        </p:spPr>
      </p:pic>
    </p:spTree>
    <p:extLst>
      <p:ext uri="{BB962C8B-B14F-4D97-AF65-F5344CB8AC3E}">
        <p14:creationId xmlns:p14="http://schemas.microsoft.com/office/powerpoint/2010/main" val="3561075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21B901-D298-4CF3-AB94-A540317C2DB9}"/>
              </a:ext>
            </a:extLst>
          </p:cNvPr>
          <p:cNvSpPr txBox="1"/>
          <p:nvPr/>
        </p:nvSpPr>
        <p:spPr>
          <a:xfrm>
            <a:off x="0" y="0"/>
            <a:ext cx="8850702" cy="369332"/>
          </a:xfrm>
          <a:prstGeom prst="rect">
            <a:avLst/>
          </a:prstGeom>
          <a:noFill/>
        </p:spPr>
        <p:txBody>
          <a:bodyPr wrap="square" rtlCol="0">
            <a:spAutoFit/>
          </a:bodyPr>
          <a:lstStyle/>
          <a:p>
            <a:r>
              <a:rPr lang="en-US" altLang="zh-CN" u="sng" dirty="0"/>
              <a:t>How to choose SIGMA, HEIGHT and BIASFACTOR IN WELL-TEMPERED METAD</a:t>
            </a:r>
            <a:endParaRPr lang="zh-CN" altLang="en-US" u="sng" dirty="0"/>
          </a:p>
        </p:txBody>
      </p:sp>
      <mc:AlternateContent xmlns:mc="http://schemas.openxmlformats.org/markup-compatibility/2006">
        <mc:Choice xmlns:a14="http://schemas.microsoft.com/office/drawing/2010/main" Requires="a14">
          <p:sp>
            <p:nvSpPr>
              <p:cNvPr id="2" name="文本框 1">
                <a:extLst>
                  <a:ext uri="{FF2B5EF4-FFF2-40B4-BE49-F238E27FC236}">
                    <a16:creationId xmlns:a16="http://schemas.microsoft.com/office/drawing/2014/main" id="{25975BC5-898A-4F5A-8E1A-F08A9394A654}"/>
                  </a:ext>
                </a:extLst>
              </p:cNvPr>
              <p:cNvSpPr txBox="1"/>
              <p:nvPr/>
            </p:nvSpPr>
            <p:spPr>
              <a:xfrm>
                <a:off x="685800" y="491706"/>
                <a:ext cx="9118120" cy="369332"/>
              </a:xfrm>
              <a:prstGeom prst="rect">
                <a:avLst/>
              </a:prstGeom>
              <a:noFill/>
            </p:spPr>
            <p:txBody>
              <a:bodyPr wrap="square" rtlCol="0">
                <a:spAutoFit/>
              </a:bodyPr>
              <a:lstStyle/>
              <a:p>
                <a:r>
                  <a:rPr lang="en-US" altLang="zh-CN" dirty="0"/>
                  <a:t>When adding a new gaussian, the width </a:t>
                </a:r>
                <a14:m>
                  <m:oMath xmlns:m="http://schemas.openxmlformats.org/officeDocument/2006/math">
                    <m:r>
                      <a:rPr lang="en-US" altLang="zh-CN" b="0" i="1" smtClean="0">
                        <a:latin typeface="Cambria Math" panose="02040503050406030204" pitchFamily="18" charset="0"/>
                      </a:rPr>
                      <m:t>𝑊</m:t>
                    </m:r>
                    <m:r>
                      <a:rPr lang="en-US" altLang="zh-CN" b="0" i="1" smtClean="0">
                        <a:latin typeface="Cambria Math" panose="02040503050406030204" pitchFamily="18" charset="0"/>
                      </a:rPr>
                      <m:t>(</m:t>
                    </m:r>
                    <m:r>
                      <a:rPr lang="en-US" altLang="zh-CN" b="0" i="1" smtClean="0">
                        <a:latin typeface="Cambria Math" panose="02040503050406030204" pitchFamily="18" charset="0"/>
                      </a:rPr>
                      <m:t>𝑘</m:t>
                    </m:r>
                    <m:r>
                      <a:rPr lang="zh-CN" altLang="en-US" b="0" i="1" smtClean="0">
                        <a:latin typeface="Cambria Math" panose="02040503050406030204" pitchFamily="18" charset="0"/>
                      </a:rPr>
                      <m:t>𝜏</m:t>
                    </m:r>
                    <m:r>
                      <a:rPr lang="en-US" altLang="zh-CN" b="0" i="1" smtClean="0">
                        <a:latin typeface="Cambria Math" panose="02040503050406030204" pitchFamily="18" charset="0"/>
                      </a:rPr>
                      <m:t>)</m:t>
                    </m:r>
                  </m:oMath>
                </a14:m>
                <a:r>
                  <a:rPr lang="zh-CN" altLang="en-US" dirty="0"/>
                  <a:t> </a:t>
                </a:r>
                <a:r>
                  <a:rPr lang="en-US" altLang="zh-CN" dirty="0"/>
                  <a:t>and sigma </a:t>
                </a:r>
                <a14:m>
                  <m:oMath xmlns:m="http://schemas.openxmlformats.org/officeDocument/2006/math">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𝜎</m:t>
                        </m:r>
                      </m:e>
                      <m:sub>
                        <m:r>
                          <a:rPr lang="en-US" altLang="zh-CN" b="0" i="1" smtClean="0">
                            <a:latin typeface="Cambria Math" panose="02040503050406030204" pitchFamily="18" charset="0"/>
                          </a:rPr>
                          <m:t>𝑖</m:t>
                        </m:r>
                      </m:sub>
                    </m:sSub>
                  </m:oMath>
                </a14:m>
                <a:r>
                  <a:rPr lang="zh-CN" altLang="en-US" dirty="0"/>
                  <a:t> </a:t>
                </a:r>
                <a:r>
                  <a:rPr lang="en-US" altLang="zh-CN" dirty="0"/>
                  <a:t>should be chosen.</a:t>
                </a:r>
                <a:endParaRPr lang="zh-CN" altLang="en-US" dirty="0"/>
              </a:p>
            </p:txBody>
          </p:sp>
        </mc:Choice>
        <mc:Fallback>
          <p:sp>
            <p:nvSpPr>
              <p:cNvPr id="2" name="文本框 1">
                <a:extLst>
                  <a:ext uri="{FF2B5EF4-FFF2-40B4-BE49-F238E27FC236}">
                    <a16:creationId xmlns:a16="http://schemas.microsoft.com/office/drawing/2014/main" id="{25975BC5-898A-4F5A-8E1A-F08A9394A654}"/>
                  </a:ext>
                </a:extLst>
              </p:cNvPr>
              <p:cNvSpPr txBox="1">
                <a:spLocks noRot="1" noChangeAspect="1" noMove="1" noResize="1" noEditPoints="1" noAdjustHandles="1" noChangeArrowheads="1" noChangeShapeType="1" noTextEdit="1"/>
              </p:cNvSpPr>
              <p:nvPr/>
            </p:nvSpPr>
            <p:spPr>
              <a:xfrm>
                <a:off x="685800" y="491706"/>
                <a:ext cx="9118120" cy="369332"/>
              </a:xfrm>
              <a:prstGeom prst="rect">
                <a:avLst/>
              </a:prstGeom>
              <a:blipFill>
                <a:blip r:embed="rId2"/>
                <a:stretch>
                  <a:fillRect l="-602" t="-10000" b="-26667"/>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EE58F1D1-EDF9-4A15-A134-D8EB6FB5F134}"/>
              </a:ext>
            </a:extLst>
          </p:cNvPr>
          <p:cNvPicPr>
            <a:picLocks noChangeAspect="1"/>
          </p:cNvPicPr>
          <p:nvPr/>
        </p:nvPicPr>
        <p:blipFill>
          <a:blip r:embed="rId3"/>
          <a:stretch>
            <a:fillRect/>
          </a:stretch>
        </p:blipFill>
        <p:spPr>
          <a:xfrm>
            <a:off x="5913497" y="1368833"/>
            <a:ext cx="2314575" cy="647700"/>
          </a:xfrm>
          <a:prstGeom prst="rect">
            <a:avLst/>
          </a:prstGeom>
        </p:spPr>
      </p:pic>
      <p:pic>
        <p:nvPicPr>
          <p:cNvPr id="5" name="图片 4">
            <a:extLst>
              <a:ext uri="{FF2B5EF4-FFF2-40B4-BE49-F238E27FC236}">
                <a16:creationId xmlns:a16="http://schemas.microsoft.com/office/drawing/2014/main" id="{3C0BE996-FCD4-46EF-8322-235DD05A35BC}"/>
              </a:ext>
            </a:extLst>
          </p:cNvPr>
          <p:cNvPicPr>
            <a:picLocks noChangeAspect="1"/>
          </p:cNvPicPr>
          <p:nvPr/>
        </p:nvPicPr>
        <p:blipFill>
          <a:blip r:embed="rId4"/>
          <a:stretch>
            <a:fillRect/>
          </a:stretch>
        </p:blipFill>
        <p:spPr>
          <a:xfrm>
            <a:off x="1037589" y="1288788"/>
            <a:ext cx="3871295" cy="807790"/>
          </a:xfrm>
          <a:prstGeom prst="rect">
            <a:avLst/>
          </a:prstGeom>
        </p:spPr>
      </p:pic>
      <p:cxnSp>
        <p:nvCxnSpPr>
          <p:cNvPr id="7" name="直接连接符 6">
            <a:extLst>
              <a:ext uri="{FF2B5EF4-FFF2-40B4-BE49-F238E27FC236}">
                <a16:creationId xmlns:a16="http://schemas.microsoft.com/office/drawing/2014/main" id="{52C9A43D-C3A7-40C2-9ED0-542B7D369A2F}"/>
              </a:ext>
            </a:extLst>
          </p:cNvPr>
          <p:cNvCxnSpPr/>
          <p:nvPr/>
        </p:nvCxnSpPr>
        <p:spPr>
          <a:xfrm flipH="1">
            <a:off x="2380891" y="759125"/>
            <a:ext cx="2311879" cy="785003"/>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9" name="直接连接符 8">
            <a:extLst>
              <a:ext uri="{FF2B5EF4-FFF2-40B4-BE49-F238E27FC236}">
                <a16:creationId xmlns:a16="http://schemas.microsoft.com/office/drawing/2014/main" id="{0654BCD7-86BA-474C-9DB2-CF41D4F5A6EB}"/>
              </a:ext>
            </a:extLst>
          </p:cNvPr>
          <p:cNvCxnSpPr/>
          <p:nvPr/>
        </p:nvCxnSpPr>
        <p:spPr>
          <a:xfrm>
            <a:off x="4692770" y="759125"/>
            <a:ext cx="1854679" cy="871267"/>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1" name="直接连接符 10">
            <a:extLst>
              <a:ext uri="{FF2B5EF4-FFF2-40B4-BE49-F238E27FC236}">
                <a16:creationId xmlns:a16="http://schemas.microsoft.com/office/drawing/2014/main" id="{36E00CF3-99C5-4305-8B60-01120989C7F5}"/>
              </a:ext>
            </a:extLst>
          </p:cNvPr>
          <p:cNvCxnSpPr/>
          <p:nvPr/>
        </p:nvCxnSpPr>
        <p:spPr>
          <a:xfrm flipH="1">
            <a:off x="4183811" y="759125"/>
            <a:ext cx="1820174" cy="1086928"/>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3" name="直接连接符 12">
            <a:extLst>
              <a:ext uri="{FF2B5EF4-FFF2-40B4-BE49-F238E27FC236}">
                <a16:creationId xmlns:a16="http://schemas.microsoft.com/office/drawing/2014/main" id="{12F27917-26F6-4EA2-95CE-4054E0E2ADA9}"/>
              </a:ext>
            </a:extLst>
          </p:cNvPr>
          <p:cNvCxnSpPr>
            <a:cxnSpLocks/>
          </p:cNvCxnSpPr>
          <p:nvPr/>
        </p:nvCxnSpPr>
        <p:spPr>
          <a:xfrm>
            <a:off x="6003985" y="759125"/>
            <a:ext cx="1621766" cy="1086928"/>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5" name="文本框 14">
            <a:extLst>
              <a:ext uri="{FF2B5EF4-FFF2-40B4-BE49-F238E27FC236}">
                <a16:creationId xmlns:a16="http://schemas.microsoft.com/office/drawing/2014/main" id="{827DCD61-BFD9-4D79-921B-8CD095759BA8}"/>
              </a:ext>
            </a:extLst>
          </p:cNvPr>
          <p:cNvSpPr txBox="1"/>
          <p:nvPr/>
        </p:nvSpPr>
        <p:spPr>
          <a:xfrm>
            <a:off x="769645" y="4286255"/>
            <a:ext cx="9906000" cy="923330"/>
          </a:xfrm>
          <a:prstGeom prst="rect">
            <a:avLst/>
          </a:prstGeom>
          <a:noFill/>
        </p:spPr>
        <p:txBody>
          <a:bodyPr wrap="square" rtlCol="0">
            <a:spAutoFit/>
          </a:bodyPr>
          <a:lstStyle/>
          <a:p>
            <a:r>
              <a:rPr lang="en-US" altLang="zh-CN" b="1" dirty="0"/>
              <a:t>Initial height: half </a:t>
            </a:r>
            <a:r>
              <a:rPr lang="en-US" altLang="zh-CN" b="1" dirty="0" err="1"/>
              <a:t>kT</a:t>
            </a:r>
            <a:r>
              <a:rPr lang="en-US" altLang="zh-CN" b="1" dirty="0"/>
              <a:t> should be fine.</a:t>
            </a:r>
          </a:p>
          <a:p>
            <a:r>
              <a:rPr lang="en-US" altLang="zh-CN" b="1" dirty="0"/>
              <a:t>Bias factor: 5-10 for most biology system.</a:t>
            </a:r>
          </a:p>
          <a:p>
            <a:r>
              <a:rPr lang="en-US" altLang="zh-CN" b="1" dirty="0"/>
              <a:t>Sigma:</a:t>
            </a:r>
            <a:r>
              <a:rPr lang="zh-CN" altLang="en-US" b="1" dirty="0"/>
              <a:t> </a:t>
            </a:r>
            <a:r>
              <a:rPr lang="en-US" altLang="zh-CN" b="1" dirty="0"/>
              <a:t>is estimated from the </a:t>
            </a:r>
            <a:r>
              <a:rPr lang="en-US" altLang="zh-CN" b="1" dirty="0" err="1"/>
              <a:t>fluctions</a:t>
            </a:r>
            <a:r>
              <a:rPr lang="en-US" altLang="zh-CN" b="1" dirty="0"/>
              <a:t> of the collective variables in an unbiased run.</a:t>
            </a:r>
          </a:p>
        </p:txBody>
      </p:sp>
      <p:pic>
        <p:nvPicPr>
          <p:cNvPr id="16" name="图片 15">
            <a:extLst>
              <a:ext uri="{FF2B5EF4-FFF2-40B4-BE49-F238E27FC236}">
                <a16:creationId xmlns:a16="http://schemas.microsoft.com/office/drawing/2014/main" id="{C617B356-25BD-4BA8-B031-45EAE4FFA312}"/>
              </a:ext>
            </a:extLst>
          </p:cNvPr>
          <p:cNvPicPr>
            <a:picLocks noChangeAspect="1"/>
          </p:cNvPicPr>
          <p:nvPr/>
        </p:nvPicPr>
        <p:blipFill>
          <a:blip r:embed="rId5"/>
          <a:stretch>
            <a:fillRect/>
          </a:stretch>
        </p:blipFill>
        <p:spPr>
          <a:xfrm>
            <a:off x="1141669" y="2924739"/>
            <a:ext cx="3886537" cy="777307"/>
          </a:xfrm>
          <a:prstGeom prst="rect">
            <a:avLst/>
          </a:prstGeom>
        </p:spPr>
      </p:pic>
      <mc:AlternateContent xmlns:mc="http://schemas.openxmlformats.org/markup-compatibility/2006">
        <mc:Choice xmlns:a14="http://schemas.microsoft.com/office/drawing/2010/main" Requires="a14">
          <p:sp>
            <p:nvSpPr>
              <p:cNvPr id="18" name="文本框 17">
                <a:extLst>
                  <a:ext uri="{FF2B5EF4-FFF2-40B4-BE49-F238E27FC236}">
                    <a16:creationId xmlns:a16="http://schemas.microsoft.com/office/drawing/2014/main" id="{6A28E095-D5AD-4BF6-AFCF-793136BECA0C}"/>
                  </a:ext>
                </a:extLst>
              </p:cNvPr>
              <p:cNvSpPr txBox="1"/>
              <p:nvPr/>
            </p:nvSpPr>
            <p:spPr>
              <a:xfrm>
                <a:off x="769645" y="3657242"/>
                <a:ext cx="5029199" cy="358175"/>
              </a:xfrm>
              <a:prstGeom prst="rect">
                <a:avLst/>
              </a:prstGeom>
              <a:noFill/>
            </p:spPr>
            <p:txBody>
              <a:bodyPr wrap="square">
                <a:spAutoFit/>
              </a:bodyPr>
              <a:lstStyle/>
              <a:p>
                <a:r>
                  <a:rPr lang="en-US" altLang="zh-CN" sz="1200" dirty="0"/>
                  <a:t>ΔT(T for temperature) is written in terms of a so-​called </a:t>
                </a:r>
                <a:r>
                  <a:rPr lang="en-US" altLang="zh-CN" sz="1200" b="1" dirty="0"/>
                  <a:t>BIAS FACTOR </a:t>
                </a:r>
                <a14:m>
                  <m:oMath xmlns:m="http://schemas.openxmlformats.org/officeDocument/2006/math">
                    <m:r>
                      <m:rPr>
                        <m:sty m:val="p"/>
                      </m:rPr>
                      <a:rPr lang="el-GR" altLang="zh-CN" sz="1200" i="1" dirty="0" smtClean="0">
                        <a:latin typeface="Cambria Math" panose="02040503050406030204" pitchFamily="18" charset="0"/>
                        <a:ea typeface="Cambria Math" panose="02040503050406030204" pitchFamily="18" charset="0"/>
                      </a:rPr>
                      <m:t>γ</m:t>
                    </m:r>
                    <m:r>
                      <a:rPr lang="en-US" altLang="zh-CN" sz="1200" b="0" i="1" dirty="0" smtClean="0">
                        <a:latin typeface="Cambria Math" panose="02040503050406030204" pitchFamily="18" charset="0"/>
                        <a:ea typeface="Cambria Math" panose="02040503050406030204" pitchFamily="18" charset="0"/>
                      </a:rPr>
                      <m:t>=</m:t>
                    </m:r>
                    <m:f>
                      <m:fPr>
                        <m:ctrlPr>
                          <a:rPr lang="en-US" altLang="zh-CN" sz="1200" i="1" dirty="0" smtClean="0">
                            <a:latin typeface="Cambria Math" panose="02040503050406030204" pitchFamily="18" charset="0"/>
                          </a:rPr>
                        </m:ctrlPr>
                      </m:fPr>
                      <m:num>
                        <m:r>
                          <a:rPr lang="en-US" altLang="zh-CN" sz="1200" b="0" i="1" dirty="0" smtClean="0">
                            <a:latin typeface="Cambria Math" panose="02040503050406030204" pitchFamily="18" charset="0"/>
                          </a:rPr>
                          <m:t>𝑇</m:t>
                        </m:r>
                        <m:r>
                          <a:rPr lang="en-US" altLang="zh-CN" sz="1200" b="0" i="1" dirty="0" smtClean="0">
                            <a:latin typeface="Cambria Math" panose="02040503050406030204" pitchFamily="18" charset="0"/>
                          </a:rPr>
                          <m:t>+∆</m:t>
                        </m:r>
                        <m:r>
                          <a:rPr lang="en-US" altLang="zh-CN" sz="1200" b="0" i="1" dirty="0" smtClean="0">
                            <a:latin typeface="Cambria Math" panose="02040503050406030204" pitchFamily="18" charset="0"/>
                            <a:ea typeface="Cambria Math" panose="02040503050406030204" pitchFamily="18" charset="0"/>
                          </a:rPr>
                          <m:t>𝑇</m:t>
                        </m:r>
                      </m:num>
                      <m:den>
                        <m:r>
                          <a:rPr lang="en-US" altLang="zh-CN" sz="1200" i="1" dirty="0" smtClean="0">
                            <a:latin typeface="Cambria Math" panose="02040503050406030204" pitchFamily="18" charset="0"/>
                            <a:ea typeface="Cambria Math" panose="02040503050406030204" pitchFamily="18" charset="0"/>
                          </a:rPr>
                          <m:t>∆</m:t>
                        </m:r>
                        <m:r>
                          <a:rPr lang="en-US" altLang="zh-CN" sz="1200" b="0" i="1" dirty="0" smtClean="0">
                            <a:latin typeface="Cambria Math" panose="02040503050406030204" pitchFamily="18" charset="0"/>
                            <a:ea typeface="Cambria Math" panose="02040503050406030204" pitchFamily="18" charset="0"/>
                          </a:rPr>
                          <m:t>𝑇</m:t>
                        </m:r>
                      </m:den>
                    </m:f>
                  </m:oMath>
                </a14:m>
                <a:endParaRPr lang="zh-CN" altLang="en-US" sz="1200" dirty="0"/>
              </a:p>
            </p:txBody>
          </p:sp>
        </mc:Choice>
        <mc:Fallback>
          <p:sp>
            <p:nvSpPr>
              <p:cNvPr id="18" name="文本框 17">
                <a:extLst>
                  <a:ext uri="{FF2B5EF4-FFF2-40B4-BE49-F238E27FC236}">
                    <a16:creationId xmlns:a16="http://schemas.microsoft.com/office/drawing/2014/main" id="{6A28E095-D5AD-4BF6-AFCF-793136BECA0C}"/>
                  </a:ext>
                </a:extLst>
              </p:cNvPr>
              <p:cNvSpPr txBox="1">
                <a:spLocks noRot="1" noChangeAspect="1" noMove="1" noResize="1" noEditPoints="1" noAdjustHandles="1" noChangeArrowheads="1" noChangeShapeType="1" noTextEdit="1"/>
              </p:cNvSpPr>
              <p:nvPr/>
            </p:nvSpPr>
            <p:spPr>
              <a:xfrm>
                <a:off x="769645" y="3657242"/>
                <a:ext cx="5029199" cy="358175"/>
              </a:xfrm>
              <a:prstGeom prst="rect">
                <a:avLst/>
              </a:prstGeom>
              <a:blipFill>
                <a:blip r:embed="rId6"/>
                <a:stretch>
                  <a:fillRect b="-3390"/>
                </a:stretch>
              </a:blipFill>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E91628B7-F078-479E-BBD9-C37D695C4B77}"/>
              </a:ext>
            </a:extLst>
          </p:cNvPr>
          <p:cNvSpPr txBox="1"/>
          <p:nvPr/>
        </p:nvSpPr>
        <p:spPr>
          <a:xfrm>
            <a:off x="685800" y="2351321"/>
            <a:ext cx="9118120" cy="369332"/>
          </a:xfrm>
          <a:prstGeom prst="rect">
            <a:avLst/>
          </a:prstGeom>
          <a:noFill/>
        </p:spPr>
        <p:txBody>
          <a:bodyPr wrap="square" rtlCol="0">
            <a:spAutoFit/>
          </a:bodyPr>
          <a:lstStyle/>
          <a:p>
            <a:r>
              <a:rPr lang="en-US" altLang="zh-CN" dirty="0"/>
              <a:t>For well-tempered </a:t>
            </a:r>
            <a:r>
              <a:rPr lang="en-US" altLang="zh-CN" dirty="0" err="1"/>
              <a:t>metaD</a:t>
            </a:r>
            <a:r>
              <a:rPr lang="en-US" altLang="zh-CN" dirty="0"/>
              <a:t>, a bias factor</a:t>
            </a:r>
            <a:r>
              <a:rPr lang="zh-CN" altLang="en-US" dirty="0"/>
              <a:t> </a:t>
            </a:r>
            <a:r>
              <a:rPr lang="en-US" altLang="zh-CN" dirty="0"/>
              <a:t>should be chosen, and height became a initial height</a:t>
            </a:r>
            <a:endParaRPr lang="zh-CN" altLang="en-US" dirty="0"/>
          </a:p>
        </p:txBody>
      </p:sp>
      <p:sp>
        <p:nvSpPr>
          <p:cNvPr id="21" name="文本框 20">
            <a:extLst>
              <a:ext uri="{FF2B5EF4-FFF2-40B4-BE49-F238E27FC236}">
                <a16:creationId xmlns:a16="http://schemas.microsoft.com/office/drawing/2014/main" id="{9285D812-75CA-4C7B-ACA5-753D6285EA62}"/>
              </a:ext>
            </a:extLst>
          </p:cNvPr>
          <p:cNvSpPr txBox="1"/>
          <p:nvPr/>
        </p:nvSpPr>
        <p:spPr>
          <a:xfrm>
            <a:off x="685800" y="5434169"/>
            <a:ext cx="11348047" cy="369332"/>
          </a:xfrm>
          <a:prstGeom prst="rect">
            <a:avLst/>
          </a:prstGeom>
          <a:noFill/>
        </p:spPr>
        <p:txBody>
          <a:bodyPr wrap="square">
            <a:spAutoFit/>
          </a:bodyPr>
          <a:lstStyle/>
          <a:p>
            <a:r>
              <a:rPr lang="en-US" altLang="zh-CN" dirty="0">
                <a:solidFill>
                  <a:srgbClr val="FF0000"/>
                </a:solidFill>
              </a:rPr>
              <a:t>https://www.youtube.com/watch?v=q0RHlFAk544&amp;list=PLmdKEn2znJEld8l6Hp9PXf4EursC4-8nC&amp;index=13&amp;t=1190s</a:t>
            </a:r>
            <a:endParaRPr lang="zh-CN" altLang="en-US" dirty="0">
              <a:solidFill>
                <a:srgbClr val="FF0000"/>
              </a:solidFill>
            </a:endParaRPr>
          </a:p>
        </p:txBody>
      </p:sp>
    </p:spTree>
    <p:extLst>
      <p:ext uri="{BB962C8B-B14F-4D97-AF65-F5344CB8AC3E}">
        <p14:creationId xmlns:p14="http://schemas.microsoft.com/office/powerpoint/2010/main" val="4040153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B18BFB0-7FD3-4E8B-A2A7-6DC720DFECF9}"/>
              </a:ext>
            </a:extLst>
          </p:cNvPr>
          <p:cNvSpPr txBox="1"/>
          <p:nvPr/>
        </p:nvSpPr>
        <p:spPr>
          <a:xfrm>
            <a:off x="439948" y="371131"/>
            <a:ext cx="10653622" cy="5909310"/>
          </a:xfrm>
          <a:prstGeom prst="rect">
            <a:avLst/>
          </a:prstGeom>
          <a:noFill/>
        </p:spPr>
        <p:txBody>
          <a:bodyPr wrap="square">
            <a:spAutoFit/>
          </a:bodyPr>
          <a:lstStyle/>
          <a:p>
            <a:r>
              <a:rPr lang="en-US" altLang="zh-CN" dirty="0"/>
              <a:t>Filling a multidimensional space becomes more expensive as the dimensionality of the space grows. Because the overall idea of </a:t>
            </a:r>
            <a:r>
              <a:rPr lang="en-US" altLang="zh-CN" dirty="0" err="1"/>
              <a:t>metadynamics</a:t>
            </a:r>
            <a:r>
              <a:rPr lang="en-US" altLang="zh-CN" dirty="0"/>
              <a:t> is to </a:t>
            </a:r>
            <a:r>
              <a:rPr lang="en-US" altLang="zh-CN" dirty="0" err="1"/>
              <a:t>disfavour</a:t>
            </a:r>
            <a:r>
              <a:rPr lang="en-US" altLang="zh-CN" dirty="0"/>
              <a:t> the conformations that have been already visited, if the number of CVs is too large, the system will never return to exactly the same value of all the CVs. </a:t>
            </a:r>
          </a:p>
          <a:p>
            <a:endParaRPr lang="en-US" altLang="zh-CN" dirty="0"/>
          </a:p>
          <a:p>
            <a:r>
              <a:rPr lang="en-US" altLang="zh-CN" dirty="0"/>
              <a:t>Approaches that employ replicas to allow a large number of CVs to be biased alternately or simultaneously can be used to alleviate this requirement. </a:t>
            </a:r>
          </a:p>
          <a:p>
            <a:endParaRPr lang="en-US" altLang="zh-CN" dirty="0"/>
          </a:p>
          <a:p>
            <a:r>
              <a:rPr lang="en-US" altLang="zh-CN" dirty="0"/>
              <a:t>In the first case, bias-​exchange </a:t>
            </a:r>
            <a:r>
              <a:rPr lang="en-US" altLang="zh-CN" dirty="0" err="1"/>
              <a:t>metadynamics</a:t>
            </a:r>
            <a:r>
              <a:rPr lang="en-US" altLang="zh-CN" dirty="0"/>
              <a:t>, each replica biases a single CV, so that a large number of CVs can be simultaneously probed. </a:t>
            </a:r>
          </a:p>
          <a:p>
            <a:endParaRPr lang="en-US" altLang="zh-CN" dirty="0"/>
          </a:p>
          <a:p>
            <a:r>
              <a:rPr lang="en-US" altLang="zh-CN" dirty="0"/>
              <a:t>In the second case, multiple independent biases are constructed to flatten the distribution of multiple CVs using well-​tempered </a:t>
            </a:r>
            <a:r>
              <a:rPr lang="en-US" altLang="zh-CN" dirty="0" err="1"/>
              <a:t>metadynamics</a:t>
            </a:r>
            <a:r>
              <a:rPr lang="en-US" altLang="zh-CN" dirty="0"/>
              <a:t>. All CVs are biased in all replicas, but the ΔT parameter is modulated across the replica ladder, so that one replica provides unbiased sampling and the other replicas provide the capability to easily cross barriers. </a:t>
            </a:r>
          </a:p>
          <a:p>
            <a:endParaRPr lang="en-US" altLang="zh-CN" dirty="0"/>
          </a:p>
          <a:p>
            <a:r>
              <a:rPr lang="en-US" altLang="zh-CN" dirty="0"/>
              <a:t>In both cases, coordinates are exchanged between replicas using an acceptance ratio that depends on the value of the biased CV of the different replicas. </a:t>
            </a:r>
          </a:p>
          <a:p>
            <a:endParaRPr lang="en-US" altLang="zh-CN" dirty="0"/>
          </a:p>
          <a:p>
            <a:r>
              <a:rPr lang="en-US" altLang="zh-CN" dirty="0"/>
              <a:t>Another approach, parallel-​bias </a:t>
            </a:r>
            <a:r>
              <a:rPr lang="en-US" altLang="zh-CN" dirty="0" err="1"/>
              <a:t>metadynamics</a:t>
            </a:r>
            <a:r>
              <a:rPr lang="en-US" altLang="zh-CN" dirty="0"/>
              <a:t>, reproduces the character of bias-​exchange </a:t>
            </a:r>
            <a:r>
              <a:rPr lang="en-US" altLang="zh-CN" dirty="0" err="1"/>
              <a:t>metadynamics</a:t>
            </a:r>
            <a:r>
              <a:rPr lang="en-US" altLang="zh-CN" dirty="0"/>
              <a:t> by using a single replica for which the weight (or probability) for each of the variables to be biased is computed on the fly, thus with the practical advantage of allowing simulation of a single replica.</a:t>
            </a:r>
            <a:endParaRPr lang="zh-CN" altLang="en-US" dirty="0"/>
          </a:p>
        </p:txBody>
      </p:sp>
    </p:spTree>
    <p:extLst>
      <p:ext uri="{BB962C8B-B14F-4D97-AF65-F5344CB8AC3E}">
        <p14:creationId xmlns:p14="http://schemas.microsoft.com/office/powerpoint/2010/main" val="2491009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a16="http://schemas.microsoft.com/office/drawing/2014/main" id="{4B33E9B2-1CE1-4880-86D8-5BF4509D4F9B}"/>
              </a:ext>
            </a:extLst>
          </p:cNvPr>
          <p:cNvPicPr>
            <a:picLocks noChangeAspect="1"/>
          </p:cNvPicPr>
          <p:nvPr/>
        </p:nvPicPr>
        <p:blipFill>
          <a:blip r:embed="rId2"/>
          <a:stretch>
            <a:fillRect/>
          </a:stretch>
        </p:blipFill>
        <p:spPr>
          <a:xfrm>
            <a:off x="3665416" y="3587304"/>
            <a:ext cx="3414056" cy="662997"/>
          </a:xfrm>
          <a:prstGeom prst="rect">
            <a:avLst/>
          </a:prstGeom>
        </p:spPr>
      </p:pic>
      <p:pic>
        <p:nvPicPr>
          <p:cNvPr id="17" name="图片 16">
            <a:extLst>
              <a:ext uri="{FF2B5EF4-FFF2-40B4-BE49-F238E27FC236}">
                <a16:creationId xmlns:a16="http://schemas.microsoft.com/office/drawing/2014/main" id="{D71F2C0B-872E-4B86-99C3-D407FE7B9D49}"/>
              </a:ext>
            </a:extLst>
          </p:cNvPr>
          <p:cNvPicPr>
            <a:picLocks noChangeAspect="1"/>
          </p:cNvPicPr>
          <p:nvPr/>
        </p:nvPicPr>
        <p:blipFill>
          <a:blip r:embed="rId3"/>
          <a:stretch>
            <a:fillRect/>
          </a:stretch>
        </p:blipFill>
        <p:spPr>
          <a:xfrm>
            <a:off x="3757543" y="2220538"/>
            <a:ext cx="2865368" cy="1051651"/>
          </a:xfrm>
          <a:prstGeom prst="rect">
            <a:avLst/>
          </a:prstGeom>
        </p:spPr>
      </p:pic>
      <p:pic>
        <p:nvPicPr>
          <p:cNvPr id="11" name="图片 10">
            <a:extLst>
              <a:ext uri="{FF2B5EF4-FFF2-40B4-BE49-F238E27FC236}">
                <a16:creationId xmlns:a16="http://schemas.microsoft.com/office/drawing/2014/main" id="{0A623BD6-1885-4199-BF0F-207354BDD473}"/>
              </a:ext>
            </a:extLst>
          </p:cNvPr>
          <p:cNvPicPr>
            <a:picLocks noChangeAspect="1"/>
          </p:cNvPicPr>
          <p:nvPr/>
        </p:nvPicPr>
        <p:blipFill>
          <a:blip r:embed="rId4"/>
          <a:stretch>
            <a:fillRect/>
          </a:stretch>
        </p:blipFill>
        <p:spPr>
          <a:xfrm>
            <a:off x="3665416" y="1046006"/>
            <a:ext cx="3756986" cy="784928"/>
          </a:xfrm>
          <a:prstGeom prst="rect">
            <a:avLst/>
          </a:prstGeom>
        </p:spPr>
      </p:pic>
      <p:pic>
        <p:nvPicPr>
          <p:cNvPr id="9" name="图片 8">
            <a:extLst>
              <a:ext uri="{FF2B5EF4-FFF2-40B4-BE49-F238E27FC236}">
                <a16:creationId xmlns:a16="http://schemas.microsoft.com/office/drawing/2014/main" id="{D1C5AF2D-80F1-4742-B847-6F59E23DA4C9}"/>
              </a:ext>
            </a:extLst>
          </p:cNvPr>
          <p:cNvPicPr>
            <a:picLocks noChangeAspect="1"/>
          </p:cNvPicPr>
          <p:nvPr/>
        </p:nvPicPr>
        <p:blipFill>
          <a:blip r:embed="rId5"/>
          <a:stretch>
            <a:fillRect/>
          </a:stretch>
        </p:blipFill>
        <p:spPr>
          <a:xfrm>
            <a:off x="4573648" y="851766"/>
            <a:ext cx="1767993" cy="403895"/>
          </a:xfrm>
          <a:prstGeom prst="rect">
            <a:avLst/>
          </a:prstGeom>
        </p:spPr>
      </p:pic>
      <p:sp>
        <p:nvSpPr>
          <p:cNvPr id="3" name="文本框 2">
            <a:extLst>
              <a:ext uri="{FF2B5EF4-FFF2-40B4-BE49-F238E27FC236}">
                <a16:creationId xmlns:a16="http://schemas.microsoft.com/office/drawing/2014/main" id="{2F1E35ED-D717-4C75-82BB-569763D16D2F}"/>
              </a:ext>
            </a:extLst>
          </p:cNvPr>
          <p:cNvSpPr txBox="1"/>
          <p:nvPr/>
        </p:nvSpPr>
        <p:spPr>
          <a:xfrm>
            <a:off x="1438" y="0"/>
            <a:ext cx="6094562" cy="369332"/>
          </a:xfrm>
          <a:prstGeom prst="rect">
            <a:avLst/>
          </a:prstGeom>
          <a:noFill/>
        </p:spPr>
        <p:txBody>
          <a:bodyPr wrap="square">
            <a:spAutoFit/>
          </a:bodyPr>
          <a:lstStyle/>
          <a:p>
            <a:r>
              <a:rPr lang="en-US" altLang="zh-CN" u="sng" dirty="0"/>
              <a:t>Parallel Bias </a:t>
            </a:r>
            <a:r>
              <a:rPr lang="en-US" altLang="zh-CN" u="sng" dirty="0" err="1"/>
              <a:t>metadynamics</a:t>
            </a:r>
            <a:endParaRPr lang="zh-CN" altLang="en-US" u="sng" dirty="0"/>
          </a:p>
        </p:txBody>
      </p:sp>
      <p:sp>
        <p:nvSpPr>
          <p:cNvPr id="7" name="文本框 6">
            <a:extLst>
              <a:ext uri="{FF2B5EF4-FFF2-40B4-BE49-F238E27FC236}">
                <a16:creationId xmlns:a16="http://schemas.microsoft.com/office/drawing/2014/main" id="{7CAA1592-90F7-41ED-8B54-5CAC750F1733}"/>
              </a:ext>
            </a:extLst>
          </p:cNvPr>
          <p:cNvSpPr txBox="1"/>
          <p:nvPr/>
        </p:nvSpPr>
        <p:spPr>
          <a:xfrm>
            <a:off x="420537" y="369332"/>
            <a:ext cx="11311387" cy="646331"/>
          </a:xfrm>
          <a:prstGeom prst="rect">
            <a:avLst/>
          </a:prstGeom>
          <a:noFill/>
        </p:spPr>
        <p:txBody>
          <a:bodyPr wrap="square">
            <a:spAutoFit/>
          </a:bodyPr>
          <a:lstStyle/>
          <a:p>
            <a:r>
              <a:rPr lang="en-US" altLang="zh-CN" dirty="0"/>
              <a:t>Multiple low-dimensional bias potentials are applied in parallel. In the current implementation, these have the form of mono-dimensional </a:t>
            </a:r>
            <a:r>
              <a:rPr lang="en-US" altLang="zh-CN" dirty="0" err="1"/>
              <a:t>metadynamics</a:t>
            </a:r>
            <a:r>
              <a:rPr lang="en-US" altLang="zh-CN" dirty="0"/>
              <a:t> bias potentials:</a:t>
            </a:r>
            <a:endParaRPr lang="zh-CN" altLang="en-US" dirty="0"/>
          </a:p>
        </p:txBody>
      </p:sp>
      <p:sp>
        <p:nvSpPr>
          <p:cNvPr id="13" name="文本框 12">
            <a:extLst>
              <a:ext uri="{FF2B5EF4-FFF2-40B4-BE49-F238E27FC236}">
                <a16:creationId xmlns:a16="http://schemas.microsoft.com/office/drawing/2014/main" id="{798D9B14-57F4-4C75-8FC9-3389442EB011}"/>
              </a:ext>
            </a:extLst>
          </p:cNvPr>
          <p:cNvSpPr txBox="1"/>
          <p:nvPr/>
        </p:nvSpPr>
        <p:spPr>
          <a:xfrm>
            <a:off x="420537" y="1093300"/>
            <a:ext cx="6120440" cy="369332"/>
          </a:xfrm>
          <a:prstGeom prst="rect">
            <a:avLst/>
          </a:prstGeom>
          <a:noFill/>
        </p:spPr>
        <p:txBody>
          <a:bodyPr wrap="square">
            <a:spAutoFit/>
          </a:bodyPr>
          <a:lstStyle/>
          <a:p>
            <a:r>
              <a:rPr lang="en-US" altLang="zh-CN" dirty="0"/>
              <a:t>where:</a:t>
            </a:r>
            <a:endParaRPr lang="zh-CN" altLang="en-US" dirty="0"/>
          </a:p>
        </p:txBody>
      </p:sp>
      <p:sp>
        <p:nvSpPr>
          <p:cNvPr id="15" name="文本框 14">
            <a:extLst>
              <a:ext uri="{FF2B5EF4-FFF2-40B4-BE49-F238E27FC236}">
                <a16:creationId xmlns:a16="http://schemas.microsoft.com/office/drawing/2014/main" id="{F10B5ACE-5169-4525-B605-80A2CAE7A891}"/>
              </a:ext>
            </a:extLst>
          </p:cNvPr>
          <p:cNvSpPr txBox="1"/>
          <p:nvPr/>
        </p:nvSpPr>
        <p:spPr>
          <a:xfrm>
            <a:off x="420537" y="1787328"/>
            <a:ext cx="11527048" cy="646331"/>
          </a:xfrm>
          <a:prstGeom prst="rect">
            <a:avLst/>
          </a:prstGeom>
          <a:noFill/>
        </p:spPr>
        <p:txBody>
          <a:bodyPr wrap="square">
            <a:spAutoFit/>
          </a:bodyPr>
          <a:lstStyle/>
          <a:p>
            <a:r>
              <a:rPr lang="en-US" altLang="zh-CN" dirty="0"/>
              <a:t>To ensure the convergence of each mono-dimensional bias potential to the corresponding free energy, at each deposition step the Gaussian heights are multiplied by the so-called conditional term:</a:t>
            </a:r>
            <a:endParaRPr lang="zh-CN" altLang="en-US" dirty="0"/>
          </a:p>
        </p:txBody>
      </p:sp>
      <p:sp>
        <p:nvSpPr>
          <p:cNvPr id="19" name="文本框 18">
            <a:extLst>
              <a:ext uri="{FF2B5EF4-FFF2-40B4-BE49-F238E27FC236}">
                <a16:creationId xmlns:a16="http://schemas.microsoft.com/office/drawing/2014/main" id="{DE1509B5-6EBC-4DC4-80B9-61AE53B12928}"/>
              </a:ext>
            </a:extLst>
          </p:cNvPr>
          <p:cNvSpPr txBox="1"/>
          <p:nvPr/>
        </p:nvSpPr>
        <p:spPr>
          <a:xfrm>
            <a:off x="420537" y="3055168"/>
            <a:ext cx="6120440" cy="369332"/>
          </a:xfrm>
          <a:prstGeom prst="rect">
            <a:avLst/>
          </a:prstGeom>
          <a:noFill/>
        </p:spPr>
        <p:txBody>
          <a:bodyPr wrap="square">
            <a:spAutoFit/>
          </a:bodyPr>
          <a:lstStyle/>
          <a:p>
            <a:r>
              <a:rPr lang="en-US" altLang="zh-CN" dirty="0"/>
              <a:t>where W</a:t>
            </a:r>
            <a:r>
              <a:rPr lang="en-US" altLang="zh-CN" baseline="-25000" dirty="0"/>
              <a:t>0</a:t>
            </a:r>
            <a:r>
              <a:rPr lang="en-US" altLang="zh-CN" dirty="0"/>
              <a:t> is the initial Gaussian height.</a:t>
            </a:r>
            <a:endParaRPr lang="zh-CN" altLang="en-US" dirty="0"/>
          </a:p>
        </p:txBody>
      </p:sp>
      <p:sp>
        <p:nvSpPr>
          <p:cNvPr id="21" name="文本框 20">
            <a:extLst>
              <a:ext uri="{FF2B5EF4-FFF2-40B4-BE49-F238E27FC236}">
                <a16:creationId xmlns:a16="http://schemas.microsoft.com/office/drawing/2014/main" id="{7C1989A1-E7C8-4262-A801-A8801B60C338}"/>
              </a:ext>
            </a:extLst>
          </p:cNvPr>
          <p:cNvSpPr txBox="1"/>
          <p:nvPr/>
        </p:nvSpPr>
        <p:spPr>
          <a:xfrm>
            <a:off x="420537" y="3414461"/>
            <a:ext cx="6120440" cy="369332"/>
          </a:xfrm>
          <a:prstGeom prst="rect">
            <a:avLst/>
          </a:prstGeom>
          <a:noFill/>
        </p:spPr>
        <p:txBody>
          <a:bodyPr wrap="square">
            <a:spAutoFit/>
          </a:bodyPr>
          <a:lstStyle/>
          <a:p>
            <a:r>
              <a:rPr lang="en-US" altLang="zh-CN" dirty="0"/>
              <a:t>The </a:t>
            </a:r>
            <a:r>
              <a:rPr lang="en-US" altLang="zh-CN" dirty="0" err="1"/>
              <a:t>PBMetaD</a:t>
            </a:r>
            <a:r>
              <a:rPr lang="en-US" altLang="zh-CN" dirty="0"/>
              <a:t> bias potential is defined by:</a:t>
            </a:r>
            <a:endParaRPr lang="zh-CN" altLang="en-US" dirty="0"/>
          </a:p>
        </p:txBody>
      </p:sp>
      <p:sp>
        <p:nvSpPr>
          <p:cNvPr id="25" name="文本框 24">
            <a:extLst>
              <a:ext uri="{FF2B5EF4-FFF2-40B4-BE49-F238E27FC236}">
                <a16:creationId xmlns:a16="http://schemas.microsoft.com/office/drawing/2014/main" id="{1CCCC67D-3A2C-4D33-A070-5FDBCF8BE6C1}"/>
              </a:ext>
            </a:extLst>
          </p:cNvPr>
          <p:cNvSpPr txBox="1"/>
          <p:nvPr/>
        </p:nvSpPr>
        <p:spPr>
          <a:xfrm>
            <a:off x="420537" y="4693897"/>
            <a:ext cx="6120440" cy="1477328"/>
          </a:xfrm>
          <a:prstGeom prst="rect">
            <a:avLst/>
          </a:prstGeom>
          <a:noFill/>
        </p:spPr>
        <p:txBody>
          <a:bodyPr wrap="square">
            <a:spAutoFit/>
          </a:bodyPr>
          <a:lstStyle/>
          <a:p>
            <a:r>
              <a:rPr lang="en-US" altLang="zh-CN" dirty="0"/>
              <a:t>d1: DISTANCE ATOMS=3,5 </a:t>
            </a:r>
          </a:p>
          <a:p>
            <a:r>
              <a:rPr lang="en-US" altLang="zh-CN" dirty="0"/>
              <a:t>d2: DISTANCE ATOMS=2,4 </a:t>
            </a:r>
          </a:p>
          <a:p>
            <a:r>
              <a:rPr lang="en-US" altLang="zh-CN" dirty="0"/>
              <a:t>pb: PBMETAD ARG=d1,d2 SIGMA=0.2,0.2 HEIGHT=0.3 PACE=500 FILE=HILLS_d1,HILLS_d2 </a:t>
            </a:r>
          </a:p>
          <a:p>
            <a:r>
              <a:rPr lang="en-US" altLang="zh-CN" dirty="0"/>
              <a:t>PRINT ARG=d1,d2,pb.bias STRIDE=100 FILE=COLVAR </a:t>
            </a:r>
            <a:endParaRPr lang="zh-CN" altLang="en-US" dirty="0"/>
          </a:p>
        </p:txBody>
      </p:sp>
      <p:sp>
        <p:nvSpPr>
          <p:cNvPr id="26" name="文本框 25">
            <a:extLst>
              <a:ext uri="{FF2B5EF4-FFF2-40B4-BE49-F238E27FC236}">
                <a16:creationId xmlns:a16="http://schemas.microsoft.com/office/drawing/2014/main" id="{121AFF23-6343-4F94-9618-5B5B3B5A42C4}"/>
              </a:ext>
            </a:extLst>
          </p:cNvPr>
          <p:cNvSpPr txBox="1"/>
          <p:nvPr/>
        </p:nvSpPr>
        <p:spPr>
          <a:xfrm>
            <a:off x="0" y="4192799"/>
            <a:ext cx="2296463" cy="369332"/>
          </a:xfrm>
          <a:prstGeom prst="rect">
            <a:avLst/>
          </a:prstGeom>
          <a:noFill/>
        </p:spPr>
        <p:txBody>
          <a:bodyPr wrap="none" rtlCol="0">
            <a:spAutoFit/>
          </a:bodyPr>
          <a:lstStyle/>
          <a:p>
            <a:r>
              <a:rPr lang="en-US" altLang="zh-CN" u="sng" dirty="0"/>
              <a:t>Example plumed input</a:t>
            </a:r>
            <a:endParaRPr lang="zh-CN" altLang="en-US" u="sng" dirty="0"/>
          </a:p>
        </p:txBody>
      </p:sp>
    </p:spTree>
    <p:extLst>
      <p:ext uri="{BB962C8B-B14F-4D97-AF65-F5344CB8AC3E}">
        <p14:creationId xmlns:p14="http://schemas.microsoft.com/office/powerpoint/2010/main" val="119838913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294</TotalTime>
  <Words>1002</Words>
  <Application>Microsoft Office PowerPoint</Application>
  <PresentationFormat>宽屏</PresentationFormat>
  <Paragraphs>76</Paragraphs>
  <Slides>7</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7</vt:i4>
      </vt:variant>
    </vt:vector>
  </HeadingPairs>
  <TitlesOfParts>
    <vt:vector size="12" baseType="lpstr">
      <vt:lpstr>MinionPro-Regular</vt:lpstr>
      <vt:lpstr>Arial</vt:lpstr>
      <vt:lpstr>Calibri</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郭昱</dc:creator>
  <cp:lastModifiedBy>郭 昱</cp:lastModifiedBy>
  <cp:revision>17</cp:revision>
  <dcterms:created xsi:type="dcterms:W3CDTF">2022-04-22T15:02:12Z</dcterms:created>
  <dcterms:modified xsi:type="dcterms:W3CDTF">2022-04-23T13:02:21Z</dcterms:modified>
</cp:coreProperties>
</file>